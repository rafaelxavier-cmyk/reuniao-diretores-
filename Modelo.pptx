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3A4E"/>
    <a:srgbClr val="5DD4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A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97280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8592000" y="0"/>
            <a:ext cx="3600000" cy="6858000"/>
          </a:xfrm>
          <a:prstGeom prst="rect">
            <a:avLst/>
          </a:prstGeom>
          <a:solidFill>
            <a:srgbClr val="07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592000" y="0"/>
            <a:ext cx="9144" cy="6858000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055" y="25633"/>
            <a:ext cx="2864869" cy="100188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2766367"/>
            <a:ext cx="7800000" cy="5539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600" b="1" i="0" spc="600" dirty="0">
                <a:solidFill>
                  <a:srgbClr val="5DD4B4"/>
                </a:solidFill>
                <a:latin typeface="Calibri"/>
              </a:rPr>
              <a:t>REUNIÃO DE DIRETORES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59435"/>
            <a:ext cx="7800000" cy="5232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pt-BR" sz="3400" b="1" i="0" dirty="0">
                <a:solidFill>
                  <a:srgbClr val="103A4E"/>
                </a:solidFill>
                <a:latin typeface="Calibri"/>
              </a:rPr>
              <a:t>O </a:t>
            </a:r>
            <a:r>
              <a:rPr sz="3400" b="1" i="0" dirty="0" err="1">
                <a:solidFill>
                  <a:srgbClr val="103A4E"/>
                </a:solidFill>
                <a:latin typeface="Calibri"/>
              </a:rPr>
              <a:t>Jeito</a:t>
            </a:r>
            <a:r>
              <a:rPr sz="3400" b="1" i="0" dirty="0">
                <a:solidFill>
                  <a:srgbClr val="103A4E"/>
                </a:solidFill>
                <a:latin typeface="Calibri"/>
              </a:rPr>
              <a:t> </a:t>
            </a:r>
            <a:r>
              <a:rPr sz="3400" b="1" i="0" dirty="0" err="1">
                <a:solidFill>
                  <a:srgbClr val="103A4E"/>
                </a:solidFill>
                <a:latin typeface="Calibri"/>
              </a:rPr>
              <a:t>Matriz</a:t>
            </a:r>
            <a:r>
              <a:rPr sz="3400" b="1" i="0" dirty="0">
                <a:solidFill>
                  <a:srgbClr val="103A4E"/>
                </a:solidFill>
                <a:latin typeface="Calibri"/>
              </a:rPr>
              <a:t> de </a:t>
            </a:r>
            <a:r>
              <a:rPr sz="3400" b="1" i="0" dirty="0" err="1">
                <a:solidFill>
                  <a:srgbClr val="103A4E"/>
                </a:solidFill>
                <a:latin typeface="Calibri"/>
              </a:rPr>
              <a:t>Gestão</a:t>
            </a:r>
            <a:endParaRPr sz="3400" b="1" i="0" dirty="0">
              <a:solidFill>
                <a:srgbClr val="103A4E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Matriz Educação  ·  Reunião de Diretores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92000" y="1200000"/>
            <a:ext cx="3000000" cy="1200000"/>
          </a:xfrm>
          <a:prstGeom prst="rect">
            <a:avLst/>
          </a:prstGeom>
          <a:solidFill>
            <a:srgbClr val="10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792000" y="1200000"/>
            <a:ext cx="3000000" cy="73152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952000" y="1350000"/>
            <a:ext cx="2600000" cy="2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 spc="300">
                <a:solidFill>
                  <a:srgbClr val="5DD4B4"/>
                </a:solidFill>
                <a:latin typeface="Calibri"/>
              </a:rPr>
              <a:t>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52000" y="1600000"/>
            <a:ext cx="2600000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 dirty="0">
                <a:solidFill>
                  <a:srgbClr val="FFFFFF"/>
                </a:solidFill>
                <a:latin typeface="Calibri"/>
              </a:rPr>
              <a:t>[</a:t>
            </a:r>
            <a:r>
              <a:rPr lang="pt-BR" sz="1500" b="1" dirty="0">
                <a:solidFill>
                  <a:srgbClr val="FFFFFF"/>
                </a:solidFill>
                <a:latin typeface="Calibri"/>
              </a:rPr>
              <a:t>11</a:t>
            </a:r>
            <a:r>
              <a:rPr sz="1500" b="1" i="0" dirty="0">
                <a:solidFill>
                  <a:srgbClr val="FFFFFF"/>
                </a:solidFill>
                <a:latin typeface="Calibri"/>
              </a:rPr>
              <a:t>/</a:t>
            </a:r>
            <a:r>
              <a:rPr lang="pt-BR" sz="1500" b="1" i="0" dirty="0">
                <a:solidFill>
                  <a:srgbClr val="FFFFFF"/>
                </a:solidFill>
                <a:latin typeface="Calibri"/>
              </a:rPr>
              <a:t>05</a:t>
            </a:r>
            <a:r>
              <a:rPr sz="1500" b="1" i="0" dirty="0">
                <a:solidFill>
                  <a:srgbClr val="FFFFFF"/>
                </a:solidFill>
                <a:latin typeface="Calibri"/>
              </a:rPr>
              <a:t>/</a:t>
            </a:r>
            <a:r>
              <a:rPr lang="pt-BR" sz="1500" b="1" i="0" dirty="0">
                <a:solidFill>
                  <a:srgbClr val="FFFFFF"/>
                </a:solidFill>
                <a:latin typeface="Calibri"/>
              </a:rPr>
              <a:t>2026</a:t>
            </a:r>
            <a:endParaRPr sz="15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792000" y="2580000"/>
            <a:ext cx="3000000" cy="1200000"/>
          </a:xfrm>
          <a:prstGeom prst="rect">
            <a:avLst/>
          </a:prstGeom>
          <a:solidFill>
            <a:srgbClr val="10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792000" y="2580000"/>
            <a:ext cx="3000000" cy="73152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952000" y="2730000"/>
            <a:ext cx="2600000" cy="2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 spc="300">
                <a:solidFill>
                  <a:srgbClr val="5DD4B4"/>
                </a:solidFill>
                <a:latin typeface="Calibri"/>
              </a:rPr>
              <a:t>HORÁRIO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52000" y="2980000"/>
            <a:ext cx="2600000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pt-BR" sz="1500" b="1" i="0" dirty="0">
                <a:solidFill>
                  <a:srgbClr val="FFFFFF"/>
                </a:solidFill>
                <a:latin typeface="Calibri"/>
              </a:rPr>
              <a:t>14</a:t>
            </a:r>
            <a:r>
              <a:rPr sz="1500" b="1" i="0" dirty="0">
                <a:solidFill>
                  <a:srgbClr val="FFFFFF"/>
                </a:solidFill>
                <a:latin typeface="Calibri"/>
              </a:rPr>
              <a:t>h – 1</a:t>
            </a:r>
            <a:r>
              <a:rPr lang="pt-BR" sz="1500" b="1" i="0" dirty="0">
                <a:solidFill>
                  <a:srgbClr val="FFFFFF"/>
                </a:solidFill>
                <a:latin typeface="Calibri"/>
              </a:rPr>
              <a:t>8</a:t>
            </a:r>
            <a:r>
              <a:rPr sz="1500" b="1" i="0" dirty="0">
                <a:solidFill>
                  <a:srgbClr val="FFFFFF"/>
                </a:solidFill>
                <a:latin typeface="Calibri"/>
              </a:rPr>
              <a:t>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92000" y="3960000"/>
            <a:ext cx="3000000" cy="1200000"/>
          </a:xfrm>
          <a:prstGeom prst="rect">
            <a:avLst/>
          </a:prstGeom>
          <a:solidFill>
            <a:srgbClr val="103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792000" y="3960000"/>
            <a:ext cx="3000000" cy="73152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952000" y="4110000"/>
            <a:ext cx="2600000" cy="2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00" b="1" i="0" spc="300">
                <a:solidFill>
                  <a:srgbClr val="5DD4B4"/>
                </a:solidFill>
                <a:latin typeface="Calibri"/>
              </a:rPr>
              <a:t>LOCAL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52000" y="4360000"/>
            <a:ext cx="2600000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 dirty="0">
                <a:solidFill>
                  <a:srgbClr val="FFFFFF"/>
                </a:solidFill>
                <a:latin typeface="Calibri"/>
              </a:rPr>
              <a:t>[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97280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249" y="25633"/>
            <a:ext cx="2383357" cy="8763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3200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 spc="800">
                <a:solidFill>
                  <a:srgbClr val="0E3D52"/>
                </a:solidFill>
                <a:latin typeface="Calibri"/>
              </a:rPr>
              <a:t>MATRIZ EDUCAÇÃO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56692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6B7280"/>
                </a:solidFill>
                <a:latin typeface="Calibri"/>
              </a:rPr>
              <a:t>Diretores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868680"/>
            <a:ext cx="11338560" cy="9144"/>
          </a:xfrm>
          <a:prstGeom prst="rect">
            <a:avLst/>
          </a:prstGeom>
          <a:solidFill>
            <a:srgbClr val="DD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600">
                <a:solidFill>
                  <a:srgbClr val="5DD4B4"/>
                </a:solidFill>
                <a:latin typeface="Calibri"/>
              </a:rPr>
              <a:t>ABERTURA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A2D3D"/>
                </a:solidFill>
                <a:latin typeface="Georgia"/>
              </a:rPr>
              <a:t>O dia de hoje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Matriz Educação  ·  Jeito Matriz de Gestão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050000"/>
            <a:ext cx="950000" cy="400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8640" y="2150000"/>
            <a:ext cx="800000" cy="2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BLOCO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48640" y="2050000"/>
            <a:ext cx="5950000" cy="400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748640" y="2150000"/>
            <a:ext cx="5800000" cy="2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TEMA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48640" y="2050000"/>
            <a:ext cx="2050000" cy="400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848640" y="2150000"/>
            <a:ext cx="1900000" cy="2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DURAÇÃO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948640" y="2050000"/>
            <a:ext cx="550000" cy="400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048640" y="2150000"/>
            <a:ext cx="400000" cy="2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48640" y="2470000"/>
            <a:ext cx="950000" cy="390000"/>
          </a:xfrm>
          <a:prstGeom prst="rect">
            <a:avLst/>
          </a:prstGeom>
          <a:solidFill>
            <a:srgbClr val="F4F7F8"/>
          </a:solidFill>
          <a:ln w="9525">
            <a:solidFill>
              <a:srgbClr val="DD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8640" y="2550000"/>
            <a:ext cx="800000" cy="2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5DD4B4"/>
                </a:solidFill>
                <a:latin typeface="Calibri"/>
              </a:rPr>
              <a:t>Bloco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48640" y="2470000"/>
            <a:ext cx="5950000" cy="390000"/>
          </a:xfrm>
          <a:prstGeom prst="rect">
            <a:avLst/>
          </a:prstGeom>
          <a:solidFill>
            <a:srgbClr val="F4F7F8"/>
          </a:solidFill>
          <a:ln w="9525">
            <a:solidFill>
              <a:srgbClr val="DD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748640" y="2550000"/>
            <a:ext cx="5800000" cy="200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 dirty="0" err="1">
                <a:solidFill>
                  <a:srgbClr val="1F2A37"/>
                </a:solidFill>
                <a:latin typeface="Calibri"/>
              </a:rPr>
              <a:t>Abertura</a:t>
            </a:r>
            <a:r>
              <a:rPr sz="1300" b="0" i="0" dirty="0">
                <a:solidFill>
                  <a:srgbClr val="1F2A37"/>
                </a:solidFill>
                <a:latin typeface="Calibri"/>
              </a:rPr>
              <a:t> 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48640" y="2470000"/>
            <a:ext cx="2050000" cy="390000"/>
          </a:xfrm>
          <a:prstGeom prst="rect">
            <a:avLst/>
          </a:prstGeom>
          <a:solidFill>
            <a:srgbClr val="F4F7F8"/>
          </a:solidFill>
          <a:ln w="9525">
            <a:solidFill>
              <a:srgbClr val="DD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848640" y="2550000"/>
            <a:ext cx="1900000" cy="2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1F2A37"/>
                </a:solidFill>
                <a:latin typeface="Calibri"/>
              </a:rPr>
              <a:t>20 min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2880000"/>
            <a:ext cx="950000" cy="39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8640" y="2960000"/>
            <a:ext cx="800000" cy="2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5DD4B4"/>
                </a:solidFill>
                <a:latin typeface="Calibri"/>
              </a:rPr>
              <a:t>Bloco 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648640" y="2880000"/>
            <a:ext cx="5950000" cy="39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748640" y="2960000"/>
            <a:ext cx="5800000" cy="2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 dirty="0" err="1">
                <a:solidFill>
                  <a:srgbClr val="1F2A37"/>
                </a:solidFill>
                <a:latin typeface="Calibri"/>
              </a:rPr>
              <a:t>Apresentação</a:t>
            </a:r>
            <a:r>
              <a:rPr sz="1300" b="0" i="0" dirty="0">
                <a:solidFill>
                  <a:srgbClr val="1F2A37"/>
                </a:solidFill>
                <a:latin typeface="Calibri"/>
              </a:rPr>
              <a:t> dos </a:t>
            </a:r>
            <a:r>
              <a:rPr sz="1300" b="0" i="0" dirty="0" err="1">
                <a:solidFill>
                  <a:srgbClr val="1F2A37"/>
                </a:solidFill>
                <a:latin typeface="Calibri"/>
              </a:rPr>
              <a:t>Diretores</a:t>
            </a:r>
            <a:endParaRPr sz="1300" b="0" i="0" dirty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7748640" y="2880000"/>
            <a:ext cx="2050000" cy="39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848640" y="2960000"/>
            <a:ext cx="1900000" cy="2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1F2A37"/>
                </a:solidFill>
                <a:latin typeface="Calibri"/>
              </a:rPr>
              <a:t>70 min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290000"/>
            <a:ext cx="950000" cy="390000"/>
          </a:xfrm>
          <a:prstGeom prst="rect">
            <a:avLst/>
          </a:prstGeom>
          <a:solidFill>
            <a:srgbClr val="F4F7F8"/>
          </a:solidFill>
          <a:ln w="9525">
            <a:solidFill>
              <a:srgbClr val="DD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8640" y="3370000"/>
            <a:ext cx="800000" cy="2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1F2A37"/>
                </a:solidFill>
                <a:latin typeface="Calibri"/>
              </a:rPr>
              <a:t>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648640" y="3290000"/>
            <a:ext cx="5950000" cy="390000"/>
          </a:xfrm>
          <a:prstGeom prst="rect">
            <a:avLst/>
          </a:prstGeom>
          <a:solidFill>
            <a:srgbClr val="F4F7F8"/>
          </a:solidFill>
          <a:ln w="9525">
            <a:solidFill>
              <a:srgbClr val="DD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748640" y="3370000"/>
            <a:ext cx="5800000" cy="2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1F2A37"/>
                </a:solidFill>
                <a:latin typeface="Calibri"/>
              </a:rPr>
              <a:t>Intervalo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48640" y="3290000"/>
            <a:ext cx="2050000" cy="390000"/>
          </a:xfrm>
          <a:prstGeom prst="rect">
            <a:avLst/>
          </a:prstGeom>
          <a:solidFill>
            <a:srgbClr val="F4F7F8"/>
          </a:solidFill>
          <a:ln w="9525">
            <a:solidFill>
              <a:srgbClr val="DD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848640" y="3370000"/>
            <a:ext cx="1900000" cy="2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1F2A37"/>
                </a:solidFill>
                <a:latin typeface="Calibri"/>
              </a:rPr>
              <a:t>15 min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700000"/>
            <a:ext cx="950000" cy="39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8640" y="3780000"/>
            <a:ext cx="800000" cy="2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5DD4B4"/>
                </a:solidFill>
                <a:latin typeface="Calibri"/>
              </a:rPr>
              <a:t>Bloco 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648640" y="3700000"/>
            <a:ext cx="5950000" cy="39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748640" y="3780000"/>
            <a:ext cx="5800000" cy="2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1F2A37"/>
                </a:solidFill>
                <a:latin typeface="Calibri"/>
              </a:rPr>
              <a:t>A Virada Conceitual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48640" y="3700000"/>
            <a:ext cx="2050000" cy="39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848640" y="3780000"/>
            <a:ext cx="1900000" cy="2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1F2A37"/>
                </a:solidFill>
                <a:latin typeface="Calibri"/>
              </a:rPr>
              <a:t>40 min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4110000"/>
            <a:ext cx="950000" cy="390000"/>
          </a:xfrm>
          <a:prstGeom prst="rect">
            <a:avLst/>
          </a:prstGeom>
          <a:solidFill>
            <a:srgbClr val="F4F7F8"/>
          </a:solidFill>
          <a:ln w="9525">
            <a:solidFill>
              <a:srgbClr val="DD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48640" y="4190000"/>
            <a:ext cx="800000" cy="2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5DD4B4"/>
                </a:solidFill>
                <a:latin typeface="Calibri"/>
              </a:rPr>
              <a:t>Bloco 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648640" y="4110000"/>
            <a:ext cx="5950000" cy="390000"/>
          </a:xfrm>
          <a:prstGeom prst="rect">
            <a:avLst/>
          </a:prstGeom>
          <a:solidFill>
            <a:srgbClr val="F4F7F8"/>
          </a:solidFill>
          <a:ln w="9525">
            <a:solidFill>
              <a:srgbClr val="DD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748640" y="4190000"/>
            <a:ext cx="5800000" cy="2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1F2A37"/>
                </a:solidFill>
                <a:latin typeface="Calibri"/>
              </a:rPr>
              <a:t>Dinâmica Mão na Massa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48640" y="4110000"/>
            <a:ext cx="2050000" cy="390000"/>
          </a:xfrm>
          <a:prstGeom prst="rect">
            <a:avLst/>
          </a:prstGeom>
          <a:solidFill>
            <a:srgbClr val="F4F7F8"/>
          </a:solidFill>
          <a:ln w="9525">
            <a:solidFill>
              <a:srgbClr val="DD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848640" y="4190000"/>
            <a:ext cx="1900000" cy="2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1F2A37"/>
                </a:solidFill>
                <a:latin typeface="Calibri"/>
              </a:rPr>
              <a:t>100 min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4520000"/>
            <a:ext cx="950000" cy="39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8640" y="4600000"/>
            <a:ext cx="800000" cy="2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1F2A37"/>
                </a:solidFill>
                <a:latin typeface="Calibri"/>
              </a:rPr>
              <a:t>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648640" y="4520000"/>
            <a:ext cx="5950000" cy="39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1748640" y="4600000"/>
            <a:ext cx="5800000" cy="2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1F2A37"/>
                </a:solidFill>
                <a:latin typeface="Calibri"/>
              </a:rPr>
              <a:t>Intervalo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748640" y="4520000"/>
            <a:ext cx="2050000" cy="39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848640" y="4600000"/>
            <a:ext cx="1900000" cy="2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1F2A37"/>
                </a:solidFill>
                <a:latin typeface="Calibri"/>
              </a:rPr>
              <a:t>15 min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" y="4930000"/>
            <a:ext cx="950000" cy="390000"/>
          </a:xfrm>
          <a:prstGeom prst="rect">
            <a:avLst/>
          </a:prstGeom>
          <a:solidFill>
            <a:srgbClr val="F4F7F8"/>
          </a:solidFill>
          <a:ln w="9525">
            <a:solidFill>
              <a:srgbClr val="DD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48640" y="5010000"/>
            <a:ext cx="800000" cy="2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5DD4B4"/>
                </a:solidFill>
                <a:latin typeface="Calibri"/>
              </a:rPr>
              <a:t>Bloco 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648640" y="4930000"/>
            <a:ext cx="5950000" cy="390000"/>
          </a:xfrm>
          <a:prstGeom prst="rect">
            <a:avLst/>
          </a:prstGeom>
          <a:solidFill>
            <a:srgbClr val="F4F7F8"/>
          </a:solidFill>
          <a:ln w="9525">
            <a:solidFill>
              <a:srgbClr val="DD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1748640" y="5010000"/>
            <a:ext cx="5800000" cy="2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1F2A37"/>
                </a:solidFill>
                <a:latin typeface="Calibri"/>
              </a:rPr>
              <a:t>Apresentação dos Grupos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48640" y="4930000"/>
            <a:ext cx="2050000" cy="390000"/>
          </a:xfrm>
          <a:prstGeom prst="rect">
            <a:avLst/>
          </a:prstGeom>
          <a:solidFill>
            <a:srgbClr val="F4F7F8"/>
          </a:solidFill>
          <a:ln w="9525">
            <a:solidFill>
              <a:srgbClr val="DD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848640" y="5010000"/>
            <a:ext cx="1900000" cy="2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1F2A37"/>
                </a:solidFill>
                <a:latin typeface="Calibri"/>
              </a:rPr>
              <a:t>50 min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340000"/>
            <a:ext cx="950000" cy="39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48640" y="5420000"/>
            <a:ext cx="800000" cy="2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5DD4B4"/>
                </a:solidFill>
                <a:latin typeface="Calibri"/>
              </a:rPr>
              <a:t>Bloco 6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648640" y="5340000"/>
            <a:ext cx="5950000" cy="39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1748640" y="5420000"/>
            <a:ext cx="5800000" cy="200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 dirty="0" err="1">
                <a:solidFill>
                  <a:srgbClr val="1F2A37"/>
                </a:solidFill>
                <a:latin typeface="Calibri"/>
              </a:rPr>
              <a:t>Fechamento</a:t>
            </a:r>
            <a:endParaRPr sz="1300" b="0" i="0" dirty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7748640" y="5340000"/>
            <a:ext cx="2050000" cy="390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7848640" y="5420000"/>
            <a:ext cx="1900000" cy="2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 i="0">
                <a:solidFill>
                  <a:srgbClr val="1F2A37"/>
                </a:solidFill>
                <a:latin typeface="Calibri"/>
              </a:rPr>
              <a:t>20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097280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249" y="25633"/>
            <a:ext cx="2383357" cy="8763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Matriz Educação  ·  Jeito Matriz de Gestão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50000"/>
            <a:ext cx="1800000" cy="9144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000000"/>
            <a:ext cx="10058400" cy="32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"Uma rede madura não depende de diretores extraordinários. Ela cria um modelo que faz escolas funcionarem com excelência de forma consistente."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97280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249" y="25633"/>
            <a:ext cx="2383357" cy="8763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3200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 spc="800">
                <a:solidFill>
                  <a:srgbClr val="0E3D52"/>
                </a:solidFill>
                <a:latin typeface="Calibri"/>
              </a:rPr>
              <a:t>MATRIZ EDUCAÇÃO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56692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6B7280"/>
                </a:solidFill>
                <a:latin typeface="Calibri"/>
              </a:rPr>
              <a:t>Diretores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868680"/>
            <a:ext cx="11338560" cy="9144"/>
          </a:xfrm>
          <a:prstGeom prst="rect">
            <a:avLst/>
          </a:prstGeom>
          <a:solidFill>
            <a:srgbClr val="DD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600">
                <a:solidFill>
                  <a:srgbClr val="5DD4B4"/>
                </a:solidFill>
                <a:latin typeface="Calibri"/>
              </a:rPr>
              <a:t>BLOCO 2 — APRESENTAÇÕES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A2D3D"/>
                </a:solidFill>
                <a:latin typeface="Georgia"/>
              </a:rPr>
              <a:t>Instrução para os diretores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Matriz Educação  ·  Jeito Matriz de Gestão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640" y="2150000"/>
            <a:ext cx="9958400" cy="206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 i="0">
                <a:solidFill>
                  <a:srgbClr val="0A2D3D"/>
                </a:solidFill>
                <a:latin typeface="Calibri"/>
              </a:rPr>
              <a:t>Cada unidade tem até 7 minutos.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640" y="2556400"/>
            <a:ext cx="9958400" cy="203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0E3D52"/>
                </a:solidFill>
                <a:latin typeface="Calibri"/>
              </a:rPr>
              <a:t>Três perguntas que guiam: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640" y="273990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• Como minha unidade funciona hoje? Estrutura, fluxo, ritmo.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640" y="325990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• O que considero inegociável na minha gestão?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640" y="377990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• O que mais funciona — e o que mais dói?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640" y="4519900"/>
            <a:ext cx="9958400" cy="200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6B7280"/>
                </a:solidFill>
                <a:latin typeface="Calibri"/>
              </a:rPr>
              <a:t>Seja direto. O foco é o conteúdo, não a apresentação.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97280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249" y="25633"/>
            <a:ext cx="2383357" cy="8763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3200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 spc="800">
                <a:solidFill>
                  <a:srgbClr val="0E3D52"/>
                </a:solidFill>
                <a:latin typeface="Calibri"/>
              </a:rPr>
              <a:t>MATRIZ EDUCAÇÃO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56692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6B7280"/>
                </a:solidFill>
                <a:latin typeface="Calibri"/>
              </a:rPr>
              <a:t>Diretores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868680"/>
            <a:ext cx="11338560" cy="9144"/>
          </a:xfrm>
          <a:prstGeom prst="rect">
            <a:avLst/>
          </a:prstGeom>
          <a:solidFill>
            <a:srgbClr val="DD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600">
                <a:solidFill>
                  <a:srgbClr val="5DD4B4"/>
                </a:solidFill>
                <a:latin typeface="Calibri"/>
              </a:rPr>
              <a:t>BLOCO 2 — APRESENTAÇÕES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A2D3D"/>
                </a:solidFill>
                <a:latin typeface="Georgia"/>
              </a:rPr>
              <a:t>Taquara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Matriz Educação  ·  Jeito Matriz de Gestão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250000"/>
            <a:ext cx="700000" cy="700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250000"/>
            <a:ext cx="700000" cy="7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 i="0">
                <a:solidFill>
                  <a:srgbClr val="5DD4B4"/>
                </a:solidFill>
                <a:latin typeface="Georgia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8640" y="2500000"/>
            <a:ext cx="9158400" cy="3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Apresentação da unidade  —  7 minutos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640" y="3200000"/>
            <a:ext cx="98584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→  Como minha unidade funciona hoje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640" y="3650000"/>
            <a:ext cx="98584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→  O que considero inegociável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640" y="4100000"/>
            <a:ext cx="98584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→  O que mais funciona — e o que mais dói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97280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249" y="25633"/>
            <a:ext cx="2383357" cy="8763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3200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 spc="800">
                <a:solidFill>
                  <a:srgbClr val="0E3D52"/>
                </a:solidFill>
                <a:latin typeface="Calibri"/>
              </a:rPr>
              <a:t>MATRIZ EDUCAÇÃO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56692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6B7280"/>
                </a:solidFill>
                <a:latin typeface="Calibri"/>
              </a:rPr>
              <a:t>Diretores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868680"/>
            <a:ext cx="11338560" cy="9144"/>
          </a:xfrm>
          <a:prstGeom prst="rect">
            <a:avLst/>
          </a:prstGeom>
          <a:solidFill>
            <a:srgbClr val="DD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600">
                <a:solidFill>
                  <a:srgbClr val="5DD4B4"/>
                </a:solidFill>
                <a:latin typeface="Calibri"/>
              </a:rPr>
              <a:t>BLOCO 2 — APRESENTAÇÕES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A2D3D"/>
                </a:solidFill>
                <a:latin typeface="Georgia"/>
              </a:rPr>
              <a:t>Tijuca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Matriz Educação  ·  Jeito Matriz de Gestão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250000"/>
            <a:ext cx="700000" cy="700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250000"/>
            <a:ext cx="700000" cy="7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 i="0">
                <a:solidFill>
                  <a:srgbClr val="5DD4B4"/>
                </a:solidFill>
                <a:latin typeface="Georgia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8640" y="2500000"/>
            <a:ext cx="9158400" cy="3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Apresentação da unidade  —  7 minutos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640" y="3200000"/>
            <a:ext cx="98584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→  Como minha unidade funciona hoje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640" y="3650000"/>
            <a:ext cx="98584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→  O que considero inegociável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640" y="4100000"/>
            <a:ext cx="98584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→  O que mais funciona — e o que mais dói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97280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249" y="25633"/>
            <a:ext cx="2383357" cy="8763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3200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 spc="800">
                <a:solidFill>
                  <a:srgbClr val="0E3D52"/>
                </a:solidFill>
                <a:latin typeface="Calibri"/>
              </a:rPr>
              <a:t>MATRIZ EDUCAÇÃO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56692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6B7280"/>
                </a:solidFill>
                <a:latin typeface="Calibri"/>
              </a:rPr>
              <a:t>Diretores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868680"/>
            <a:ext cx="11338560" cy="9144"/>
          </a:xfrm>
          <a:prstGeom prst="rect">
            <a:avLst/>
          </a:prstGeom>
          <a:solidFill>
            <a:srgbClr val="DD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600">
                <a:solidFill>
                  <a:srgbClr val="5DD4B4"/>
                </a:solidFill>
                <a:latin typeface="Calibri"/>
              </a:rPr>
              <a:t>BLOCO 2 — APRESENTAÇÕES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A2D3D"/>
                </a:solidFill>
                <a:latin typeface="Georgia"/>
              </a:rPr>
              <a:t>Bangu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Matriz Educação  ·  Jeito Matriz de Gestão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250000"/>
            <a:ext cx="700000" cy="700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250000"/>
            <a:ext cx="700000" cy="7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 i="0">
                <a:solidFill>
                  <a:srgbClr val="5DD4B4"/>
                </a:solidFill>
                <a:latin typeface="Georgia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8640" y="2500000"/>
            <a:ext cx="9158400" cy="3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Apresentação da unidade  —  7 minutos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640" y="3200000"/>
            <a:ext cx="98584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→  Como minha unidade funciona hoje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640" y="3650000"/>
            <a:ext cx="98584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→  O que considero inegociável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640" y="4100000"/>
            <a:ext cx="98584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→  O que mais funciona — e o que mais dói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97280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249" y="25633"/>
            <a:ext cx="2383357" cy="8763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3200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 spc="800">
                <a:solidFill>
                  <a:srgbClr val="0E3D52"/>
                </a:solidFill>
                <a:latin typeface="Calibri"/>
              </a:rPr>
              <a:t>MATRIZ EDUCAÇÃO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56692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6B7280"/>
                </a:solidFill>
                <a:latin typeface="Calibri"/>
              </a:rPr>
              <a:t>Diretores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868680"/>
            <a:ext cx="11338560" cy="9144"/>
          </a:xfrm>
          <a:prstGeom prst="rect">
            <a:avLst/>
          </a:prstGeom>
          <a:solidFill>
            <a:srgbClr val="DD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600">
                <a:solidFill>
                  <a:srgbClr val="5DD4B4"/>
                </a:solidFill>
                <a:latin typeface="Calibri"/>
              </a:rPr>
              <a:t>BLOCO 2 — APRESENTAÇÕES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A2D3D"/>
                </a:solidFill>
                <a:latin typeface="Georgia"/>
              </a:rPr>
              <a:t>Rocha Miranda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Matriz Educação  ·  Jeito Matriz de Gestão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250000"/>
            <a:ext cx="700000" cy="700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250000"/>
            <a:ext cx="700000" cy="7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 i="0">
                <a:solidFill>
                  <a:srgbClr val="5DD4B4"/>
                </a:solidFill>
                <a:latin typeface="Georgia"/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8640" y="2500000"/>
            <a:ext cx="9158400" cy="3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Apresentação da unidade  —  7 minutos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640" y="3200000"/>
            <a:ext cx="98584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→  Como minha unidade funciona hoje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640" y="3650000"/>
            <a:ext cx="98584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→  O que considero inegociável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640" y="4100000"/>
            <a:ext cx="98584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→  O que mais funciona — e o que mais dói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97280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249" y="25633"/>
            <a:ext cx="2383357" cy="8763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3200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 spc="800">
                <a:solidFill>
                  <a:srgbClr val="0E3D52"/>
                </a:solidFill>
                <a:latin typeface="Calibri"/>
              </a:rPr>
              <a:t>MATRIZ EDUCAÇÃO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56692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6B7280"/>
                </a:solidFill>
                <a:latin typeface="Calibri"/>
              </a:rPr>
              <a:t>Diretores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868680"/>
            <a:ext cx="11338560" cy="9144"/>
          </a:xfrm>
          <a:prstGeom prst="rect">
            <a:avLst/>
          </a:prstGeom>
          <a:solidFill>
            <a:srgbClr val="DD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600">
                <a:solidFill>
                  <a:srgbClr val="5DD4B4"/>
                </a:solidFill>
                <a:latin typeface="Calibri"/>
              </a:rPr>
              <a:t>BLOCO 2 — APRESENTAÇÕES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A2D3D"/>
                </a:solidFill>
                <a:latin typeface="Georgia"/>
              </a:rPr>
              <a:t>Caxias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Matriz Educação  ·  Jeito Matriz de Gestão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250000"/>
            <a:ext cx="700000" cy="700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250000"/>
            <a:ext cx="700000" cy="7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 i="0">
                <a:solidFill>
                  <a:srgbClr val="5DD4B4"/>
                </a:solidFill>
                <a:latin typeface="Georgia"/>
              </a:rPr>
              <a:t>05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8640" y="2500000"/>
            <a:ext cx="9158400" cy="3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Apresentação da unidade  —  7 minutos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640" y="3200000"/>
            <a:ext cx="98584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→  Como minha unidade funciona hoje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640" y="3650000"/>
            <a:ext cx="98584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→  O que considero inegociável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640" y="4100000"/>
            <a:ext cx="98584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→  O que mais funciona — e o que mais dói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97280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249" y="25633"/>
            <a:ext cx="2383357" cy="8763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3200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 spc="800">
                <a:solidFill>
                  <a:srgbClr val="0E3D52"/>
                </a:solidFill>
                <a:latin typeface="Calibri"/>
              </a:rPr>
              <a:t>MATRIZ EDUCAÇÃO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56692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6B7280"/>
                </a:solidFill>
                <a:latin typeface="Calibri"/>
              </a:rPr>
              <a:t>Diretores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868680"/>
            <a:ext cx="11338560" cy="9144"/>
          </a:xfrm>
          <a:prstGeom prst="rect">
            <a:avLst/>
          </a:prstGeom>
          <a:solidFill>
            <a:srgbClr val="DD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600">
                <a:solidFill>
                  <a:srgbClr val="5DD4B4"/>
                </a:solidFill>
                <a:latin typeface="Calibri"/>
              </a:rPr>
              <a:t>BLOCO 2 — APRESENTAÇÕES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A2D3D"/>
                </a:solidFill>
                <a:latin typeface="Georgia"/>
              </a:rPr>
              <a:t>São João de Meriti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Matriz Educação  ·  Jeito Matriz de Gestão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250000"/>
            <a:ext cx="700000" cy="700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250000"/>
            <a:ext cx="700000" cy="7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 i="0">
                <a:solidFill>
                  <a:srgbClr val="5DD4B4"/>
                </a:solidFill>
                <a:latin typeface="Georgia"/>
              </a:rPr>
              <a:t>06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8640" y="2500000"/>
            <a:ext cx="9158400" cy="3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Apresentação da unidade  —  7 minutos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640" y="3200000"/>
            <a:ext cx="98584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→  Como minha unidade funciona hoje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640" y="3650000"/>
            <a:ext cx="98584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→  O que considero inegociável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640" y="4100000"/>
            <a:ext cx="98584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→  O que mais funciona — e o que mais dói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97280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249" y="25633"/>
            <a:ext cx="2383357" cy="8763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3200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 spc="800">
                <a:solidFill>
                  <a:srgbClr val="0E3D52"/>
                </a:solidFill>
                <a:latin typeface="Calibri"/>
              </a:rPr>
              <a:t>MATRIZ EDUCAÇÃO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56692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6B7280"/>
                </a:solidFill>
                <a:latin typeface="Calibri"/>
              </a:rPr>
              <a:t>Diretores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868680"/>
            <a:ext cx="11338560" cy="9144"/>
          </a:xfrm>
          <a:prstGeom prst="rect">
            <a:avLst/>
          </a:prstGeom>
          <a:solidFill>
            <a:srgbClr val="DD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600">
                <a:solidFill>
                  <a:srgbClr val="5DD4B4"/>
                </a:solidFill>
                <a:latin typeface="Calibri"/>
              </a:rPr>
              <a:t>BLOCO 2 — APRESENTAÇÕES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A2D3D"/>
                </a:solidFill>
                <a:latin typeface="Georgia"/>
              </a:rPr>
              <a:t>Madureira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Matriz Educação  ·  Jeito Matriz de Gestão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250000"/>
            <a:ext cx="700000" cy="700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250000"/>
            <a:ext cx="700000" cy="7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 i="0">
                <a:solidFill>
                  <a:srgbClr val="5DD4B4"/>
                </a:solidFill>
                <a:latin typeface="Georgia"/>
              </a:rPr>
              <a:t>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8640" y="2500000"/>
            <a:ext cx="9158400" cy="3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Apresentação da unidade  —  7 minutos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640" y="3200000"/>
            <a:ext cx="98584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→  Como minha unidade funciona hoje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640" y="3650000"/>
            <a:ext cx="98584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→  O que considero inegociável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640" y="4100000"/>
            <a:ext cx="98584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→  O que mais funciona — e o que mais dói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97280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249" y="25633"/>
            <a:ext cx="2383357" cy="8763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3200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 spc="800">
                <a:solidFill>
                  <a:srgbClr val="0E3D52"/>
                </a:solidFill>
                <a:latin typeface="Calibri"/>
              </a:rPr>
              <a:t>MATRIZ EDUCAÇÃO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56692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6B7280"/>
                </a:solidFill>
                <a:latin typeface="Calibri"/>
              </a:rPr>
              <a:t>Diretores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868680"/>
            <a:ext cx="11338560" cy="9144"/>
          </a:xfrm>
          <a:prstGeom prst="rect">
            <a:avLst/>
          </a:prstGeom>
          <a:solidFill>
            <a:srgbClr val="DD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600">
                <a:solidFill>
                  <a:srgbClr val="5DD4B4"/>
                </a:solidFill>
                <a:latin typeface="Calibri"/>
              </a:rPr>
              <a:t>BLOCO 2 — APRESENTAÇÕES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A2D3D"/>
                </a:solidFill>
                <a:latin typeface="Georgia"/>
              </a:rPr>
              <a:t>Nova Iguaçu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Matriz Educação  ·  Jeito Matriz de Gestão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250000"/>
            <a:ext cx="700000" cy="700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250000"/>
            <a:ext cx="700000" cy="7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 i="0">
                <a:solidFill>
                  <a:srgbClr val="5DD4B4"/>
                </a:solidFill>
                <a:latin typeface="Georgia"/>
              </a:rPr>
              <a:t>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8640" y="2500000"/>
            <a:ext cx="9158400" cy="3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Apresentação da unidade  —  7 minutos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640" y="3200000"/>
            <a:ext cx="98584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→  Como minha unidade funciona hoje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640" y="3650000"/>
            <a:ext cx="98584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→  O que considero inegociável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640" y="4100000"/>
            <a:ext cx="98584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→  O que mais funciona — e o que mais dói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97280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249" y="25633"/>
            <a:ext cx="2383357" cy="8763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3200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 spc="800">
                <a:solidFill>
                  <a:srgbClr val="0E3D52"/>
                </a:solidFill>
                <a:latin typeface="Calibri"/>
              </a:rPr>
              <a:t>MATRIZ EDUCAÇÃO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56692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6B7280"/>
                </a:solidFill>
                <a:latin typeface="Calibri"/>
              </a:rPr>
              <a:t>Diretores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868680"/>
            <a:ext cx="11338560" cy="9144"/>
          </a:xfrm>
          <a:prstGeom prst="rect">
            <a:avLst/>
          </a:prstGeom>
          <a:solidFill>
            <a:srgbClr val="DD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600">
                <a:solidFill>
                  <a:srgbClr val="5DD4B4"/>
                </a:solidFill>
                <a:latin typeface="Calibri"/>
              </a:rPr>
              <a:t>BLOCO 2 — APRESENTAÇÕES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A2D3D"/>
                </a:solidFill>
                <a:latin typeface="Georgia"/>
              </a:rPr>
              <a:t>Campo Grande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Matriz Educação  ·  Jeito Matriz de Gestão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250000"/>
            <a:ext cx="700000" cy="700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250000"/>
            <a:ext cx="700000" cy="7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 i="0">
                <a:solidFill>
                  <a:srgbClr val="5DD4B4"/>
                </a:solidFill>
                <a:latin typeface="Georgia"/>
              </a:rPr>
              <a:t>09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8640" y="2500000"/>
            <a:ext cx="9158400" cy="3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Apresentação da unidade  —  7 minutos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640" y="3200000"/>
            <a:ext cx="98584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→  Como minha unidade funciona hoje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640" y="3650000"/>
            <a:ext cx="98584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→  O que considero inegociável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640" y="4100000"/>
            <a:ext cx="98584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→  O que mais funciona — e o que mais dói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97280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249" y="25633"/>
            <a:ext cx="2383357" cy="8763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3200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 spc="800">
                <a:solidFill>
                  <a:srgbClr val="0E3D52"/>
                </a:solidFill>
                <a:latin typeface="Calibri"/>
              </a:rPr>
              <a:t>MATRIZ EDUCAÇÃO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56692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6B7280"/>
                </a:solidFill>
                <a:latin typeface="Calibri"/>
              </a:rPr>
              <a:t>Diretores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868680"/>
            <a:ext cx="11338560" cy="9144"/>
          </a:xfrm>
          <a:prstGeom prst="rect">
            <a:avLst/>
          </a:prstGeom>
          <a:solidFill>
            <a:srgbClr val="DD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600">
                <a:solidFill>
                  <a:srgbClr val="5DD4B4"/>
                </a:solidFill>
                <a:latin typeface="Calibri"/>
              </a:rPr>
              <a:t>BLOCO 2 — APRESENTAÇÕES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A2D3D"/>
                </a:solidFill>
                <a:latin typeface="Georgia"/>
              </a:rPr>
              <a:t>Retiro dos Artistas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Matriz Educação  ·  Jeito Matriz de Gestão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250000"/>
            <a:ext cx="700000" cy="700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250000"/>
            <a:ext cx="700000" cy="7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 i="0">
                <a:solidFill>
                  <a:srgbClr val="5DD4B4"/>
                </a:solidFill>
                <a:latin typeface="Georgia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98640" y="2500000"/>
            <a:ext cx="9158400" cy="3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Apresentação da unidade  —  7 minutos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640" y="3200000"/>
            <a:ext cx="98584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→  Como minha unidade funciona hoje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640" y="3650000"/>
            <a:ext cx="98584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→  O que considero inegociável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640" y="4100000"/>
            <a:ext cx="98584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→  O que mais funciona — e o que mais dói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97280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249" y="25633"/>
            <a:ext cx="2383357" cy="8763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3200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 spc="800">
                <a:solidFill>
                  <a:srgbClr val="0E3D52"/>
                </a:solidFill>
                <a:latin typeface="Calibri"/>
              </a:rPr>
              <a:t>MATRIZ EDUCAÇÃO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56692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6B7280"/>
                </a:solidFill>
                <a:latin typeface="Calibri"/>
              </a:rPr>
              <a:t>Diretores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868680"/>
            <a:ext cx="11338560" cy="9144"/>
          </a:xfrm>
          <a:prstGeom prst="rect">
            <a:avLst/>
          </a:prstGeom>
          <a:solidFill>
            <a:srgbClr val="DD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600">
                <a:solidFill>
                  <a:srgbClr val="5DD4B4"/>
                </a:solidFill>
                <a:latin typeface="Calibri"/>
              </a:rPr>
              <a:t>BLOCO 2 — SÍNTESE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A2D3D"/>
                </a:solidFill>
                <a:latin typeface="Georgia"/>
              </a:rPr>
              <a:t>O DNA que já existe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Matriz Educação  ·  Jeito Matriz de Gestão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640" y="1940408"/>
            <a:ext cx="995840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 dirty="0" err="1">
                <a:solidFill>
                  <a:srgbClr val="0A2D3D"/>
                </a:solidFill>
                <a:latin typeface="Calibri"/>
              </a:rPr>
              <a:t>Práticas</a:t>
            </a:r>
            <a:r>
              <a:rPr sz="2000" b="1" i="0" dirty="0">
                <a:solidFill>
                  <a:srgbClr val="0A2D3D"/>
                </a:solidFill>
                <a:latin typeface="Calibri"/>
              </a:rPr>
              <a:t> </a:t>
            </a:r>
            <a:r>
              <a:rPr sz="2000" b="1" i="0" dirty="0" err="1">
                <a:solidFill>
                  <a:srgbClr val="0A2D3D"/>
                </a:solidFill>
                <a:latin typeface="Calibri"/>
              </a:rPr>
              <a:t>presentes</a:t>
            </a:r>
            <a:r>
              <a:rPr sz="2000" b="1" i="0" dirty="0">
                <a:solidFill>
                  <a:srgbClr val="0A2D3D"/>
                </a:solidFill>
                <a:latin typeface="Calibri"/>
              </a:rPr>
              <a:t> </a:t>
            </a:r>
            <a:r>
              <a:rPr sz="2000" b="1" i="0" dirty="0" err="1">
                <a:solidFill>
                  <a:srgbClr val="0A2D3D"/>
                </a:solidFill>
                <a:latin typeface="Calibri"/>
              </a:rPr>
              <a:t>em</a:t>
            </a:r>
            <a:r>
              <a:rPr sz="2000" b="1" i="0" dirty="0">
                <a:solidFill>
                  <a:srgbClr val="0A2D3D"/>
                </a:solidFill>
                <a:latin typeface="Calibri"/>
              </a:rPr>
              <a:t> </a:t>
            </a:r>
            <a:r>
              <a:rPr sz="2000" b="1" i="0" dirty="0" err="1">
                <a:solidFill>
                  <a:srgbClr val="0A2D3D"/>
                </a:solidFill>
                <a:latin typeface="Calibri"/>
              </a:rPr>
              <a:t>múltiplas</a:t>
            </a:r>
            <a:r>
              <a:rPr sz="2000" b="1" i="0" dirty="0">
                <a:solidFill>
                  <a:srgbClr val="0A2D3D"/>
                </a:solidFill>
                <a:latin typeface="Calibri"/>
              </a:rPr>
              <a:t> </a:t>
            </a:r>
            <a:r>
              <a:rPr sz="2000" b="1" i="0" dirty="0" err="1">
                <a:solidFill>
                  <a:srgbClr val="0A2D3D"/>
                </a:solidFill>
                <a:latin typeface="Calibri"/>
              </a:rPr>
              <a:t>unidades</a:t>
            </a:r>
            <a:r>
              <a:rPr sz="2000" b="1" i="0" dirty="0">
                <a:solidFill>
                  <a:srgbClr val="0A2D3D"/>
                </a:solidFill>
                <a:latin typeface="Calibri"/>
              </a:rPr>
              <a:t>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640" y="233350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 dirty="0">
                <a:solidFill>
                  <a:srgbClr val="1F2A37"/>
                </a:solidFill>
                <a:latin typeface="Calibri"/>
              </a:rPr>
              <a:t>•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Presença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física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 e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circulação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 pela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escola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 — 7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unidades</a:t>
            </a:r>
            <a:endParaRPr sz="1500" b="0" i="0" dirty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98640" y="285350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• Parceria ativa com coordenação pedagógica — 10 unidades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640" y="337350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• Reuniões de alinhamento de liderança — 8 unidades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640" y="389350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• Comunicação via grupos digitais internos — 4 unidades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640" y="441350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• Escuta ativa sistematizada — 5 unidades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640" y="493350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• Uso de dados para tomada de decisão — 3 unidades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640" y="545350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• Feedbacks estruturados à equipe — 3 unidades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97280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249" y="25633"/>
            <a:ext cx="2383357" cy="8763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3200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 spc="800">
                <a:solidFill>
                  <a:srgbClr val="0E3D52"/>
                </a:solidFill>
                <a:latin typeface="Calibri"/>
              </a:rPr>
              <a:t>MATRIZ EDUCAÇÃO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56692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6B7280"/>
                </a:solidFill>
                <a:latin typeface="Calibri"/>
              </a:rPr>
              <a:t>Diretores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868680"/>
            <a:ext cx="11338560" cy="9144"/>
          </a:xfrm>
          <a:prstGeom prst="rect">
            <a:avLst/>
          </a:prstGeom>
          <a:solidFill>
            <a:srgbClr val="DD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600">
                <a:solidFill>
                  <a:srgbClr val="5DD4B4"/>
                </a:solidFill>
                <a:latin typeface="Calibri"/>
              </a:rPr>
              <a:t>BLOCO 3 — A VIRADA CONCEITUAL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A2D3D"/>
                </a:solidFill>
                <a:latin typeface="Georgia"/>
              </a:rPr>
              <a:t>Práticas importantes — mas não são modelo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Matriz Educação  ·  Jeito Matriz de Gestão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640" y="2150000"/>
            <a:ext cx="9958400" cy="203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0E3D52"/>
                </a:solidFill>
                <a:latin typeface="Calibri"/>
              </a:rPr>
              <a:t>Exemplos do que apareceu nas apresentações: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640" y="255350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• "Passo em todas as salas todo dia"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640" y="307350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• "Fico na entrada às 7h"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640" y="359350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• "Acompanho a saída dos alunos"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640" y="411350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• "Circulo pelos corredores em horários variados"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640" y="4853500"/>
            <a:ext cx="9958400" cy="203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0A2D3D"/>
                </a:solidFill>
                <a:latin typeface="Calibri"/>
              </a:rPr>
              <a:t>São práticas importantes. Mas sozinhas, não são modelo de gestão.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640" y="5257000"/>
            <a:ext cx="9958400" cy="200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6B7280"/>
                </a:solidFill>
                <a:latin typeface="Calibri"/>
              </a:rPr>
              <a:t>Se o diretor mudar amanhã — o que continua funcionando?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97280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249" y="25633"/>
            <a:ext cx="2383357" cy="8763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3200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 spc="800">
                <a:solidFill>
                  <a:srgbClr val="0E3D52"/>
                </a:solidFill>
                <a:latin typeface="Calibri"/>
              </a:rPr>
              <a:t>MATRIZ EDUCAÇÃO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56692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6B7280"/>
                </a:solidFill>
                <a:latin typeface="Calibri"/>
              </a:rPr>
              <a:t>Diretores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868680"/>
            <a:ext cx="11338560" cy="9144"/>
          </a:xfrm>
          <a:prstGeom prst="rect">
            <a:avLst/>
          </a:prstGeom>
          <a:solidFill>
            <a:srgbClr val="DD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600">
                <a:solidFill>
                  <a:srgbClr val="5DD4B4"/>
                </a:solidFill>
                <a:latin typeface="Calibri"/>
              </a:rPr>
              <a:t>BLOCO 3 — A VIRADA CONCEITUAL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Matriz Educação  ·  Jeito Matriz de Gestão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150000"/>
            <a:ext cx="10058400" cy="28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A2D3D"/>
                </a:solidFill>
                <a:latin typeface="Georgia"/>
              </a:rPr>
              <a:t>Modelo de gestão é a forma como uma organização toma decisões, desenvolve pessoas, executa processos e mantém cultura — de forma consistente, independente de quem esteja no comando.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400000"/>
            <a:ext cx="10058400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0" i="1">
                <a:solidFill>
                  <a:srgbClr val="6B7280"/>
                </a:solidFill>
                <a:latin typeface="Calibri"/>
              </a:rPr>
              <a:t>Decisão  ·  Pessoas  ·  Processo  ·  Cultura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97280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249" y="25633"/>
            <a:ext cx="2383357" cy="8763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3200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 spc="800">
                <a:solidFill>
                  <a:srgbClr val="0E3D52"/>
                </a:solidFill>
                <a:latin typeface="Calibri"/>
              </a:rPr>
              <a:t>MATRIZ EDUCAÇÃO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56692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6B7280"/>
                </a:solidFill>
                <a:latin typeface="Calibri"/>
              </a:rPr>
              <a:t>Diretores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868680"/>
            <a:ext cx="11338560" cy="9144"/>
          </a:xfrm>
          <a:prstGeom prst="rect">
            <a:avLst/>
          </a:prstGeom>
          <a:solidFill>
            <a:srgbClr val="DD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600">
                <a:solidFill>
                  <a:srgbClr val="5DD4B4"/>
                </a:solidFill>
                <a:latin typeface="Calibri"/>
              </a:rPr>
              <a:t>BLOCO 3 — A VIRADA CONCEITUAL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A2D3D"/>
                </a:solidFill>
                <a:latin typeface="Georgia"/>
              </a:rPr>
              <a:t>Pergunta honesta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Matriz Educação  ·  Jeito Matriz de Gestão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640" y="2150000"/>
            <a:ext cx="9958400" cy="206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 i="0">
                <a:solidFill>
                  <a:srgbClr val="0A2D3D"/>
                </a:solidFill>
                <a:latin typeface="Calibri"/>
              </a:rPr>
              <a:t>Se você sair da direção amanhã, o substituto saberia: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640" y="2556400"/>
            <a:ext cx="9958400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 dirty="0">
                <a:solidFill>
                  <a:srgbClr val="1F2A37"/>
                </a:solidFill>
                <a:latin typeface="Calibri"/>
              </a:rPr>
              <a:t>☐ 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Quais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decisões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pode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tomar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sozinho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 e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quais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precisa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escalar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640" y="3076400"/>
            <a:ext cx="9958400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 dirty="0">
                <a:solidFill>
                  <a:srgbClr val="1F2A37"/>
                </a:solidFill>
                <a:latin typeface="Calibri"/>
              </a:rPr>
              <a:t>☐ 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Quando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 e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como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acontecem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 as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reuniões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 de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liderança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640" y="3596400"/>
            <a:ext cx="9958400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 dirty="0">
                <a:solidFill>
                  <a:srgbClr val="1F2A37"/>
                </a:solidFill>
                <a:latin typeface="Calibri"/>
              </a:rPr>
              <a:t>☐  Como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dar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 feedback para um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coordenador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 que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não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performa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640" y="4116400"/>
            <a:ext cx="9958400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 dirty="0">
                <a:solidFill>
                  <a:srgbClr val="1F2A37"/>
                </a:solidFill>
                <a:latin typeface="Calibri"/>
              </a:rPr>
              <a:t>☐ 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Quais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indicadores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olhar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 para saber se a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unidade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está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bem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640" y="4636400"/>
            <a:ext cx="9958400" cy="230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 dirty="0">
                <a:solidFill>
                  <a:srgbClr val="1F2A37"/>
                </a:solidFill>
                <a:latin typeface="Calibri"/>
              </a:rPr>
              <a:t>☐  O que é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inegociável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 e o que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pode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adaptar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97280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249" y="25633"/>
            <a:ext cx="2383357" cy="8763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3200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 spc="800">
                <a:solidFill>
                  <a:srgbClr val="0E3D52"/>
                </a:solidFill>
                <a:latin typeface="Calibri"/>
              </a:rPr>
              <a:t>MATRIZ EDUCAÇÃO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56692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6B7280"/>
                </a:solidFill>
                <a:latin typeface="Calibri"/>
              </a:rPr>
              <a:t>Diretores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868680"/>
            <a:ext cx="11338560" cy="9144"/>
          </a:xfrm>
          <a:prstGeom prst="rect">
            <a:avLst/>
          </a:prstGeom>
          <a:solidFill>
            <a:srgbClr val="DD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600">
                <a:solidFill>
                  <a:srgbClr val="5DD4B4"/>
                </a:solidFill>
                <a:latin typeface="Calibri"/>
              </a:rPr>
              <a:t>BLOCO 3 — A VIRADA CONCEITUAL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A2D3D"/>
                </a:solidFill>
                <a:latin typeface="Georgia"/>
              </a:rPr>
              <a:t>Dois modos de operar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Matriz Educação  ·  Jeito Matriz de Gestão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050000"/>
            <a:ext cx="4900000" cy="4000000"/>
          </a:xfrm>
          <a:prstGeom prst="rect">
            <a:avLst/>
          </a:prstGeom>
          <a:solidFill>
            <a:srgbClr val="F4F7F8"/>
          </a:solidFill>
          <a:ln w="9525">
            <a:solidFill>
              <a:srgbClr val="DD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2050000"/>
            <a:ext cx="4900000" cy="73152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98640" y="2200000"/>
            <a:ext cx="4600000" cy="3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 spc="400">
                <a:solidFill>
                  <a:srgbClr val="0E3D52"/>
                </a:solidFill>
                <a:latin typeface="Calibri"/>
              </a:rPr>
              <a:t>SUPERVISÃO OPERACIONAL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40" y="2630000"/>
            <a:ext cx="46000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1F2A37"/>
                </a:solidFill>
                <a:latin typeface="Calibri"/>
              </a:rPr>
              <a:t>• "O que eu faço no dia"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8640" y="3070000"/>
            <a:ext cx="46000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1F2A37"/>
                </a:solidFill>
                <a:latin typeface="Calibri"/>
              </a:rPr>
              <a:t>• Presença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40" y="3510000"/>
            <a:ext cx="46000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1F2A37"/>
                </a:solidFill>
                <a:latin typeface="Calibri"/>
              </a:rPr>
              <a:t>• Resolver problemas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8640" y="3950000"/>
            <a:ext cx="46000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1F2A37"/>
                </a:solidFill>
                <a:latin typeface="Calibri"/>
              </a:rPr>
              <a:t>• Rotina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8640" y="4390000"/>
            <a:ext cx="46000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1F2A37"/>
                </a:solidFill>
                <a:latin typeface="Calibri"/>
              </a:rPr>
              <a:t>• Estilo pessoal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8640" y="4830000"/>
            <a:ext cx="46000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1F2A37"/>
                </a:solidFill>
                <a:latin typeface="Calibri"/>
              </a:rPr>
              <a:t>• Heroísmo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98640" y="2050000"/>
            <a:ext cx="4900000" cy="4000000"/>
          </a:xfrm>
          <a:prstGeom prst="rect">
            <a:avLst/>
          </a:prstGeom>
          <a:solidFill>
            <a:srgbClr val="F4F7F8"/>
          </a:solidFill>
          <a:ln w="9525">
            <a:solidFill>
              <a:srgbClr val="DD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698640" y="2050000"/>
            <a:ext cx="4900000" cy="73152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848640" y="2200000"/>
            <a:ext cx="4600000" cy="3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 spc="400">
                <a:solidFill>
                  <a:srgbClr val="5DD4B4"/>
                </a:solidFill>
                <a:latin typeface="Calibri"/>
              </a:rPr>
              <a:t>MODELO DE GESTÃO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8640" y="2630000"/>
            <a:ext cx="46000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1F2A37"/>
                </a:solidFill>
                <a:latin typeface="Calibri"/>
              </a:rPr>
              <a:t>• "Como a unidade funciona"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48640" y="3070000"/>
            <a:ext cx="46000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1F2A37"/>
                </a:solidFill>
                <a:latin typeface="Calibri"/>
              </a:rPr>
              <a:t>• Sistema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8640" y="3510000"/>
            <a:ext cx="46000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1F2A37"/>
                </a:solidFill>
                <a:latin typeface="Calibri"/>
              </a:rPr>
              <a:t>• Criar mecanismos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8640" y="3950000"/>
            <a:ext cx="46000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1F2A37"/>
                </a:solidFill>
                <a:latin typeface="Calibri"/>
              </a:rPr>
              <a:t>• Cultura + Processo + Decisão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8640" y="4390000"/>
            <a:ext cx="46000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1F2A37"/>
                </a:solidFill>
                <a:latin typeface="Calibri"/>
              </a:rPr>
              <a:t>• Framework institucional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48640" y="4830000"/>
            <a:ext cx="46000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1F2A37"/>
                </a:solidFill>
                <a:latin typeface="Calibri"/>
              </a:rPr>
              <a:t>• Escalabilidade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97280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249" y="25633"/>
            <a:ext cx="2383357" cy="8763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3200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 spc="800">
                <a:solidFill>
                  <a:srgbClr val="0E3D52"/>
                </a:solidFill>
                <a:latin typeface="Calibri"/>
              </a:rPr>
              <a:t>MATRIZ EDUCAÇÃO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56692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6B7280"/>
                </a:solidFill>
                <a:latin typeface="Calibri"/>
              </a:rPr>
              <a:t>Diretores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868680"/>
            <a:ext cx="11338560" cy="9144"/>
          </a:xfrm>
          <a:prstGeom prst="rect">
            <a:avLst/>
          </a:prstGeom>
          <a:solidFill>
            <a:srgbClr val="DD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600">
                <a:solidFill>
                  <a:srgbClr val="5DD4B4"/>
                </a:solidFill>
                <a:latin typeface="Calibri"/>
              </a:rPr>
              <a:t>BLOCO 3 — A VIRADA CONCEITUAL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A2D3D"/>
                </a:solidFill>
                <a:latin typeface="Georgia"/>
              </a:rPr>
              <a:t>Os 6 pilares do Jeito Matriz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Matriz Educação  ·  Jeito Matriz de Gestão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050000"/>
            <a:ext cx="3200000" cy="1620000"/>
          </a:xfrm>
          <a:prstGeom prst="rect">
            <a:avLst/>
          </a:prstGeom>
          <a:solidFill>
            <a:srgbClr val="F4F7F8"/>
          </a:solidFill>
          <a:ln w="9525">
            <a:solidFill>
              <a:srgbClr val="DD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2050000"/>
            <a:ext cx="3200000" cy="73152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98640" y="2190000"/>
            <a:ext cx="2900000" cy="31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300">
                <a:solidFill>
                  <a:srgbClr val="0E3D52"/>
                </a:solidFill>
                <a:latin typeface="Calibri"/>
              </a:rPr>
              <a:t>1. CULTURA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40" y="2550000"/>
            <a:ext cx="2900000" cy="9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1F2A37"/>
                </a:solidFill>
                <a:latin typeface="Calibri"/>
              </a:rPr>
              <a:t>Como queremos que as pessoas se comportem?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8640" y="2050000"/>
            <a:ext cx="3200000" cy="1620000"/>
          </a:xfrm>
          <a:prstGeom prst="rect">
            <a:avLst/>
          </a:prstGeom>
          <a:solidFill>
            <a:srgbClr val="F4F7F8"/>
          </a:solidFill>
          <a:ln w="9525">
            <a:solidFill>
              <a:srgbClr val="DD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978640" y="2050000"/>
            <a:ext cx="3200000" cy="73152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128640" y="2190000"/>
            <a:ext cx="2900000" cy="31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300">
                <a:solidFill>
                  <a:srgbClr val="5DD4B4"/>
                </a:solidFill>
                <a:latin typeface="Calibri"/>
              </a:rPr>
              <a:t>2. GOVERNANÇA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28640" y="2550000"/>
            <a:ext cx="2900000" cy="9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1F2A37"/>
                </a:solidFill>
                <a:latin typeface="Calibri"/>
              </a:rPr>
              <a:t>Quem decide o quê — e como?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8640" y="2050000"/>
            <a:ext cx="3200000" cy="1620000"/>
          </a:xfrm>
          <a:prstGeom prst="rect">
            <a:avLst/>
          </a:prstGeom>
          <a:solidFill>
            <a:srgbClr val="F4F7F8"/>
          </a:solidFill>
          <a:ln w="9525">
            <a:solidFill>
              <a:srgbClr val="DD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408640" y="2050000"/>
            <a:ext cx="3200000" cy="73152"/>
          </a:xfrm>
          <a:prstGeom prst="rect">
            <a:avLst/>
          </a:prstGeom>
          <a:solidFill>
            <a:srgbClr val="0A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558640" y="2190000"/>
            <a:ext cx="2900000" cy="31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300">
                <a:solidFill>
                  <a:srgbClr val="0A2D3D"/>
                </a:solidFill>
                <a:latin typeface="Calibri"/>
              </a:rPr>
              <a:t>3. PESSOAS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58640" y="2550000"/>
            <a:ext cx="2900000" cy="9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1F2A37"/>
                </a:solidFill>
                <a:latin typeface="Calibri"/>
              </a:rPr>
              <a:t>Como desenvolvemos e cobramos?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870000"/>
            <a:ext cx="3200000" cy="1620000"/>
          </a:xfrm>
          <a:prstGeom prst="rect">
            <a:avLst/>
          </a:prstGeom>
          <a:solidFill>
            <a:srgbClr val="F4F7F8"/>
          </a:solidFill>
          <a:ln w="9525">
            <a:solidFill>
              <a:srgbClr val="DD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48640" y="3870000"/>
            <a:ext cx="3200000" cy="73152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98640" y="4010000"/>
            <a:ext cx="2900000" cy="31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300">
                <a:solidFill>
                  <a:srgbClr val="5DD4B4"/>
                </a:solidFill>
                <a:latin typeface="Calibri"/>
              </a:rPr>
              <a:t>4. OPERAÇÃO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8640" y="4370000"/>
            <a:ext cx="2900000" cy="9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1F2A37"/>
                </a:solidFill>
                <a:latin typeface="Calibri"/>
              </a:rPr>
              <a:t>Como garantimos padrão todos os dias?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978640" y="3870000"/>
            <a:ext cx="3200000" cy="1620000"/>
          </a:xfrm>
          <a:prstGeom prst="rect">
            <a:avLst/>
          </a:prstGeom>
          <a:solidFill>
            <a:srgbClr val="F4F7F8"/>
          </a:solidFill>
          <a:ln w="9525">
            <a:solidFill>
              <a:srgbClr val="DD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978640" y="3870000"/>
            <a:ext cx="3200000" cy="73152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128640" y="4010000"/>
            <a:ext cx="2900000" cy="31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300">
                <a:solidFill>
                  <a:srgbClr val="0E3D52"/>
                </a:solidFill>
                <a:latin typeface="Calibri"/>
              </a:rPr>
              <a:t>5. PERFORMANCE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28640" y="4370000"/>
            <a:ext cx="2900000" cy="9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1F2A37"/>
                </a:solidFill>
                <a:latin typeface="Calibri"/>
              </a:rPr>
              <a:t>Como medimos se estamos indo bem?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408640" y="3870000"/>
            <a:ext cx="3200000" cy="1620000"/>
          </a:xfrm>
          <a:prstGeom prst="rect">
            <a:avLst/>
          </a:prstGeom>
          <a:solidFill>
            <a:srgbClr val="F4F7F8"/>
          </a:solidFill>
          <a:ln w="9525">
            <a:solidFill>
              <a:srgbClr val="DD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408640" y="3870000"/>
            <a:ext cx="3200000" cy="73152"/>
          </a:xfrm>
          <a:prstGeom prst="rect">
            <a:avLst/>
          </a:prstGeom>
          <a:solidFill>
            <a:srgbClr val="0A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558640" y="4010000"/>
            <a:ext cx="2900000" cy="31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300">
                <a:solidFill>
                  <a:srgbClr val="0A2D3D"/>
                </a:solidFill>
                <a:latin typeface="Calibri"/>
              </a:rPr>
              <a:t>6. COMUNICAÇÃO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58640" y="4370000"/>
            <a:ext cx="2900000" cy="9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1F2A37"/>
                </a:solidFill>
                <a:latin typeface="Calibri"/>
              </a:rPr>
              <a:t>Como alinhamos a rede toda?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97280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249" y="25633"/>
            <a:ext cx="2383357" cy="8763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3200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 spc="800">
                <a:solidFill>
                  <a:srgbClr val="0E3D52"/>
                </a:solidFill>
                <a:latin typeface="Calibri"/>
              </a:rPr>
              <a:t>MATRIZ EDUCAÇÃO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56692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6B7280"/>
                </a:solidFill>
                <a:latin typeface="Calibri"/>
              </a:rPr>
              <a:t>Diretores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868680"/>
            <a:ext cx="11338560" cy="9144"/>
          </a:xfrm>
          <a:prstGeom prst="rect">
            <a:avLst/>
          </a:prstGeom>
          <a:solidFill>
            <a:srgbClr val="DD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600">
                <a:solidFill>
                  <a:srgbClr val="5DD4B4"/>
                </a:solidFill>
                <a:latin typeface="Calibri"/>
              </a:rPr>
              <a:t>BLOCO 3 — A VIRADA CONCEITUAL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Matriz Educação  ·  Jeito Matriz de Gestão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150000"/>
            <a:ext cx="10058400" cy="28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A2D3D"/>
                </a:solidFill>
                <a:latin typeface="Georgia"/>
              </a:rPr>
              <a:t>O que é, afinal, o papel central do diretor do Matriz?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400000"/>
            <a:ext cx="10058400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0" i="1">
                <a:solidFill>
                  <a:srgbClr val="6B7280"/>
                </a:solidFill>
                <a:latin typeface="Calibri"/>
              </a:rPr>
              <a:t>Executor?  Estrategista?  Líder pedagógico?  Gestor comercial?  Mentor?
Construiremos a resposta juntos.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97280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249" y="25633"/>
            <a:ext cx="2383357" cy="8763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3200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 spc="800">
                <a:solidFill>
                  <a:srgbClr val="0E3D52"/>
                </a:solidFill>
                <a:latin typeface="Calibri"/>
              </a:rPr>
              <a:t>MATRIZ EDUCAÇÃO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56692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6B7280"/>
                </a:solidFill>
                <a:latin typeface="Calibri"/>
              </a:rPr>
              <a:t>Diretores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868680"/>
            <a:ext cx="11338560" cy="9144"/>
          </a:xfrm>
          <a:prstGeom prst="rect">
            <a:avLst/>
          </a:prstGeom>
          <a:solidFill>
            <a:srgbClr val="DD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600">
                <a:solidFill>
                  <a:srgbClr val="5DD4B4"/>
                </a:solidFill>
                <a:latin typeface="Calibri"/>
              </a:rPr>
              <a:t>BLOCO 4 — DINÂMICA MÃO NA MASSA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A2D3D"/>
                </a:solidFill>
                <a:latin typeface="Georgia"/>
              </a:rPr>
              <a:t>Três grupos, três frentes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Matriz Educação  ·  Jeito Matriz de Gestão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640" y="2150000"/>
            <a:ext cx="9958400" cy="206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 i="0">
                <a:solidFill>
                  <a:srgbClr val="0E3D52"/>
                </a:solidFill>
                <a:latin typeface="Calibri"/>
              </a:rPr>
              <a:t>GRUPO 1 — Cultura e Liderança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640" y="243456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 dirty="0">
                <a:solidFill>
                  <a:srgbClr val="1F2A37"/>
                </a:solidFill>
                <a:latin typeface="Calibri"/>
              </a:rPr>
              <a:t>•   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Pilares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: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Cultura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 ·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Papel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 do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diretor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 ·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Comportamentos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inegociáveis</a:t>
            </a:r>
            <a:endParaRPr sz="1500" b="0" i="0" dirty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98640" y="3076400"/>
            <a:ext cx="9958400" cy="206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 i="0">
                <a:solidFill>
                  <a:srgbClr val="0E3D52"/>
                </a:solidFill>
                <a:latin typeface="Calibri"/>
              </a:rPr>
              <a:t>GRUPO 2 — Governança e Comunicação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640" y="337718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•    Pilares: Decisão · Fluxo de atendimentos · Reuniões · Canais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640" y="4002800"/>
            <a:ext cx="9958400" cy="206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 i="0">
                <a:solidFill>
                  <a:srgbClr val="0E3D52"/>
                </a:solidFill>
                <a:latin typeface="Calibri"/>
              </a:rPr>
              <a:t>GRUPO 3 — Operação e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640" y="431104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 dirty="0">
                <a:solidFill>
                  <a:srgbClr val="1F2A37"/>
                </a:solidFill>
                <a:latin typeface="Calibri"/>
              </a:rPr>
              <a:t>•   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Pilares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: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Rotina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diária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 ·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Indicadores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obrigatórios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 ·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Inegociáveis</a:t>
            </a:r>
            <a:endParaRPr sz="1500" b="0" i="0" dirty="0">
              <a:solidFill>
                <a:srgbClr val="1F2A37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97280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249" y="25633"/>
            <a:ext cx="2383357" cy="8763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3200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 spc="800">
                <a:solidFill>
                  <a:srgbClr val="0E3D52"/>
                </a:solidFill>
                <a:latin typeface="Calibri"/>
              </a:rPr>
              <a:t>MATRIZ EDUCAÇÃO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56692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6B7280"/>
                </a:solidFill>
                <a:latin typeface="Calibri"/>
              </a:rPr>
              <a:t>Diretores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868680"/>
            <a:ext cx="11338560" cy="9144"/>
          </a:xfrm>
          <a:prstGeom prst="rect">
            <a:avLst/>
          </a:prstGeom>
          <a:solidFill>
            <a:srgbClr val="DD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600">
                <a:solidFill>
                  <a:srgbClr val="5DD4B4"/>
                </a:solidFill>
                <a:latin typeface="Calibri"/>
              </a:rPr>
              <a:t>BLOCO 4 — DINÂMICA MÃO NA MASSA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A2D3D"/>
                </a:solidFill>
                <a:latin typeface="Georgia"/>
              </a:rPr>
              <a:t>Regras da construção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Matriz Educação  ·  Jeito Matriz de Gestão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640" y="1870000"/>
            <a:ext cx="99584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b="1" i="0" dirty="0" err="1">
                <a:solidFill>
                  <a:srgbClr val="0A2D3D"/>
                </a:solidFill>
                <a:latin typeface="Calibri"/>
              </a:rPr>
              <a:t>Não</a:t>
            </a:r>
            <a:r>
              <a:rPr b="1" i="0" dirty="0">
                <a:solidFill>
                  <a:srgbClr val="0A2D3D"/>
                </a:solidFill>
                <a:latin typeface="Calibri"/>
              </a:rPr>
              <a:t> </a:t>
            </a:r>
            <a:r>
              <a:rPr b="1" i="0" dirty="0" err="1">
                <a:solidFill>
                  <a:srgbClr val="0A2D3D"/>
                </a:solidFill>
                <a:latin typeface="Calibri"/>
              </a:rPr>
              <a:t>escrevam</a:t>
            </a:r>
            <a:r>
              <a:rPr b="1" i="0" dirty="0">
                <a:solidFill>
                  <a:srgbClr val="0A2D3D"/>
                </a:solidFill>
                <a:latin typeface="Calibri"/>
              </a:rPr>
              <a:t> </a:t>
            </a:r>
            <a:r>
              <a:rPr b="1" i="0" dirty="0" err="1">
                <a:solidFill>
                  <a:srgbClr val="0A2D3D"/>
                </a:solidFill>
                <a:latin typeface="Calibri"/>
              </a:rPr>
              <a:t>textos</a:t>
            </a:r>
            <a:r>
              <a:rPr b="1" i="0" dirty="0">
                <a:solidFill>
                  <a:srgbClr val="0A2D3D"/>
                </a:solidFill>
                <a:latin typeface="Calibri"/>
              </a:rPr>
              <a:t> bonitos. </a:t>
            </a:r>
            <a:r>
              <a:rPr b="1" i="0" dirty="0" err="1">
                <a:solidFill>
                  <a:srgbClr val="0A2D3D"/>
                </a:solidFill>
                <a:latin typeface="Calibri"/>
              </a:rPr>
              <a:t>Escrevam</a:t>
            </a:r>
            <a:r>
              <a:rPr b="1" i="0" dirty="0">
                <a:solidFill>
                  <a:srgbClr val="0A2D3D"/>
                </a:solidFill>
                <a:latin typeface="Calibri"/>
              </a:rPr>
              <a:t> </a:t>
            </a:r>
            <a:r>
              <a:rPr b="1" i="0" dirty="0" err="1">
                <a:solidFill>
                  <a:srgbClr val="0A2D3D"/>
                </a:solidFill>
                <a:latin typeface="Calibri"/>
              </a:rPr>
              <a:t>regras</a:t>
            </a:r>
            <a:r>
              <a:rPr b="1" i="0" dirty="0">
                <a:solidFill>
                  <a:srgbClr val="0A2D3D"/>
                </a:solidFill>
                <a:latin typeface="Calibri"/>
              </a:rPr>
              <a:t> </a:t>
            </a:r>
            <a:r>
              <a:rPr b="1" i="0" dirty="0" err="1">
                <a:solidFill>
                  <a:srgbClr val="0A2D3D"/>
                </a:solidFill>
                <a:latin typeface="Calibri"/>
              </a:rPr>
              <a:t>claras</a:t>
            </a:r>
            <a:r>
              <a:rPr b="1" i="0" dirty="0">
                <a:solidFill>
                  <a:srgbClr val="0A2D3D"/>
                </a:solidFill>
                <a:latin typeface="Calibri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640" y="233350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• Se alguém perguntar "como funciona no Matriz?", a resposta precisa estar no papel.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640" y="285350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• Filtro de tudo: "Isso funciona em 20 unidades?"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640" y="337350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• Anotem onde não chegaram a acordo — esses são os mais importantes.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640" y="4113500"/>
            <a:ext cx="995840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lang="pt-BR" sz="1400" b="1" i="0" dirty="0">
                <a:solidFill>
                  <a:srgbClr val="5DD4B4"/>
                </a:solidFill>
                <a:latin typeface="Calibri"/>
              </a:rPr>
              <a:t>40</a:t>
            </a:r>
            <a:r>
              <a:rPr sz="1400" b="1" i="0" dirty="0">
                <a:solidFill>
                  <a:srgbClr val="5DD4B4"/>
                </a:solidFill>
                <a:latin typeface="Calibri"/>
              </a:rPr>
              <a:t> </a:t>
            </a:r>
            <a:r>
              <a:rPr sz="1400" b="1" i="0" dirty="0" err="1">
                <a:solidFill>
                  <a:srgbClr val="5DD4B4"/>
                </a:solidFill>
                <a:latin typeface="Calibri"/>
              </a:rPr>
              <a:t>minutos</a:t>
            </a:r>
            <a:r>
              <a:rPr sz="1400" b="1" i="0" dirty="0">
                <a:solidFill>
                  <a:srgbClr val="5DD4B4"/>
                </a:solidFill>
                <a:latin typeface="Calibri"/>
              </a:rPr>
              <a:t> para </a:t>
            </a:r>
            <a:r>
              <a:rPr sz="1400" b="1" i="0" dirty="0" err="1">
                <a:solidFill>
                  <a:srgbClr val="5DD4B4"/>
                </a:solidFill>
                <a:latin typeface="Calibri"/>
              </a:rPr>
              <a:t>construir</a:t>
            </a:r>
            <a:r>
              <a:rPr sz="1400" b="1" i="0" dirty="0">
                <a:solidFill>
                  <a:srgbClr val="5DD4B4"/>
                </a:solidFill>
                <a:latin typeface="Calibri"/>
              </a:rPr>
              <a:t>  ·  20 </a:t>
            </a:r>
            <a:r>
              <a:rPr sz="1400" b="1" i="0" dirty="0" err="1">
                <a:solidFill>
                  <a:srgbClr val="5DD4B4"/>
                </a:solidFill>
                <a:latin typeface="Calibri"/>
              </a:rPr>
              <a:t>minutos</a:t>
            </a:r>
            <a:r>
              <a:rPr sz="1400" b="1" i="0" dirty="0">
                <a:solidFill>
                  <a:srgbClr val="5DD4B4"/>
                </a:solidFill>
                <a:latin typeface="Calibri"/>
              </a:rPr>
              <a:t> para </a:t>
            </a:r>
            <a:r>
              <a:rPr sz="1400" b="1" i="0" dirty="0" err="1">
                <a:solidFill>
                  <a:srgbClr val="5DD4B4"/>
                </a:solidFill>
                <a:latin typeface="Calibri"/>
              </a:rPr>
              <a:t>preparar</a:t>
            </a:r>
            <a:r>
              <a:rPr sz="1400" b="1" i="0" dirty="0">
                <a:solidFill>
                  <a:srgbClr val="5DD4B4"/>
                </a:solidFill>
                <a:latin typeface="Calibri"/>
              </a:rPr>
              <a:t> a </a:t>
            </a:r>
            <a:r>
              <a:rPr sz="1400" b="1" i="0" dirty="0" err="1">
                <a:solidFill>
                  <a:srgbClr val="5DD4B4"/>
                </a:solidFill>
                <a:latin typeface="Calibri"/>
              </a:rPr>
              <a:t>apresentação</a:t>
            </a:r>
            <a:endParaRPr sz="1400" b="1" i="0" dirty="0">
              <a:solidFill>
                <a:srgbClr val="5DD4B4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97280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249" y="25633"/>
            <a:ext cx="2383357" cy="8763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3200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 spc="800">
                <a:solidFill>
                  <a:srgbClr val="0E3D52"/>
                </a:solidFill>
                <a:latin typeface="Calibri"/>
              </a:rPr>
              <a:t>MATRIZ EDUCAÇÃO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56692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6B7280"/>
                </a:solidFill>
                <a:latin typeface="Calibri"/>
              </a:rPr>
              <a:t>Diretores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868680"/>
            <a:ext cx="11338560" cy="9144"/>
          </a:xfrm>
          <a:prstGeom prst="rect">
            <a:avLst/>
          </a:prstGeom>
          <a:solidFill>
            <a:srgbClr val="DD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600">
                <a:solidFill>
                  <a:srgbClr val="5DD4B4"/>
                </a:solidFill>
                <a:latin typeface="Calibri"/>
              </a:rPr>
              <a:t>BLOCO 5 — APRESENTAÇÃO DOS GRUPOS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A2D3D"/>
                </a:solidFill>
                <a:latin typeface="Georgia"/>
              </a:rPr>
              <a:t>Grupo 1: Cultura e Liderança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Matriz Educação  ·  Jeito Matriz de Gestão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640" y="2150000"/>
            <a:ext cx="9958400" cy="203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0E3D52"/>
                </a:solidFill>
                <a:latin typeface="Calibri"/>
              </a:rPr>
              <a:t>O grupo 1 apresenta: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640" y="255350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• Definição do papel do diretor (3 a 5 frases)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640" y="307350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• Comportamentos inegociáveis de liderança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640" y="359350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• O que diferencia a liderança Matriz de qualquer outra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640" y="411350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• Um ponto de tensão para a plenária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97280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249" y="25633"/>
            <a:ext cx="2383357" cy="8763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3200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 spc="800">
                <a:solidFill>
                  <a:srgbClr val="0E3D52"/>
                </a:solidFill>
                <a:latin typeface="Calibri"/>
              </a:rPr>
              <a:t>MATRIZ EDUCAÇÃO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56692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6B7280"/>
                </a:solidFill>
                <a:latin typeface="Calibri"/>
              </a:rPr>
              <a:t>Diretores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868680"/>
            <a:ext cx="11338560" cy="9144"/>
          </a:xfrm>
          <a:prstGeom prst="rect">
            <a:avLst/>
          </a:prstGeom>
          <a:solidFill>
            <a:srgbClr val="DD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600">
                <a:solidFill>
                  <a:srgbClr val="5DD4B4"/>
                </a:solidFill>
                <a:latin typeface="Calibri"/>
              </a:rPr>
              <a:t>BLOCO 5 — APRESENTAÇÃO DOS GRUPOS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A2D3D"/>
                </a:solidFill>
                <a:latin typeface="Georgia"/>
              </a:rPr>
              <a:t>Grupo 2: Governança e Comunicação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Matriz Educação  ·  Jeito Matriz de Gestão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640" y="2150000"/>
            <a:ext cx="9958400" cy="203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0E3D52"/>
                </a:solidFill>
                <a:latin typeface="Calibri"/>
              </a:rPr>
              <a:t>O grupo 2 apresenta: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640" y="255350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• Mapa de decisão — quem decide o quê (pelo menos 10 situações)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640" y="307350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• Cadência mínima de reuniões obrigatórias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640" y="359350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• Fluxo de comunicação e funções de cada canal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640" y="411350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• Um ponto de tensão para a plenária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97280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249" y="25633"/>
            <a:ext cx="2383357" cy="8763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3200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 spc="800">
                <a:solidFill>
                  <a:srgbClr val="0E3D52"/>
                </a:solidFill>
                <a:latin typeface="Calibri"/>
              </a:rPr>
              <a:t>MATRIZ EDUCAÇÃO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56692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6B7280"/>
                </a:solidFill>
                <a:latin typeface="Calibri"/>
              </a:rPr>
              <a:t>Diretores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868680"/>
            <a:ext cx="11338560" cy="9144"/>
          </a:xfrm>
          <a:prstGeom prst="rect">
            <a:avLst/>
          </a:prstGeom>
          <a:solidFill>
            <a:srgbClr val="DD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600">
                <a:solidFill>
                  <a:srgbClr val="5DD4B4"/>
                </a:solidFill>
                <a:latin typeface="Calibri"/>
              </a:rPr>
              <a:t>BLOCO 5 — APRESENTAÇÃO DOS GRUPOS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A2D3D"/>
                </a:solidFill>
                <a:latin typeface="Georgia"/>
              </a:rPr>
              <a:t>Grupo 3: Operação e Performance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Matriz Educação  ·  Jeito Matriz de Gestão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640" y="2150000"/>
            <a:ext cx="9958400" cy="203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0E3D52"/>
                </a:solidFill>
                <a:latin typeface="Calibri"/>
              </a:rPr>
              <a:t>O grupo 3 apresenta: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640" y="255350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• Rotina diária mínima da direção (5 momentos críticos)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640" y="307350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• Top 5 pontos inegociáveis da operação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640" y="359350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• Indicadores obrigatórios — mínimo 5, com frequência e responsável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640" y="411350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• Um ponto de tensão para a plenária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97280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249" y="25633"/>
            <a:ext cx="2383357" cy="8763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3200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 spc="800">
                <a:solidFill>
                  <a:srgbClr val="0E3D52"/>
                </a:solidFill>
                <a:latin typeface="Calibri"/>
              </a:rPr>
              <a:t>MATRIZ EDUCAÇÃO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56692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6B7280"/>
                </a:solidFill>
                <a:latin typeface="Calibri"/>
              </a:rPr>
              <a:t>Diretores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868680"/>
            <a:ext cx="11338560" cy="9144"/>
          </a:xfrm>
          <a:prstGeom prst="rect">
            <a:avLst/>
          </a:prstGeom>
          <a:solidFill>
            <a:srgbClr val="DD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600">
                <a:solidFill>
                  <a:srgbClr val="5DD4B4"/>
                </a:solidFill>
                <a:latin typeface="Calibri"/>
              </a:rPr>
              <a:t>BLOCO 5 — APRESENTAÇÃO DOS GRUPOS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A2D3D"/>
                </a:solidFill>
                <a:latin typeface="Georgia"/>
              </a:rPr>
              <a:t>Antes de validar — provocamos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Matriz Educação  ·  Jeito Matriz de Gestão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640" y="2150000"/>
            <a:ext cx="9958400" cy="203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5DD4B4"/>
                </a:solidFill>
                <a:latin typeface="Calibri"/>
              </a:rPr>
              <a:t>1. Escala: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640" y="233350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•    Funciona em 20 unidades?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640" y="2853500"/>
            <a:ext cx="9958400" cy="203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5DD4B4"/>
                </a:solidFill>
                <a:latin typeface="Calibri"/>
              </a:rPr>
              <a:t>2. Dependência: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640" y="303700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•    Depende de um diretor excepcional?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640" y="3557000"/>
            <a:ext cx="9958400" cy="203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5DD4B4"/>
                </a:solidFill>
                <a:latin typeface="Calibri"/>
              </a:rPr>
              <a:t>3. Rastreabilidade: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640" y="374050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•    Como sabemos que isso de fato aconteceu?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640" y="4260500"/>
            <a:ext cx="9958400" cy="203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5DD4B4"/>
                </a:solidFill>
                <a:latin typeface="Calibri"/>
              </a:rPr>
              <a:t>4. Cultura: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640" y="444400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•    Fortalece ou enfraquece nossa identidade?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640" y="4964000"/>
            <a:ext cx="9958400" cy="203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5DD4B4"/>
                </a:solidFill>
                <a:latin typeface="Calibri"/>
              </a:rPr>
              <a:t>5. Eficiência: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640" y="514750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•    Gera resultado — ou gera burocracia?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97280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249" y="25633"/>
            <a:ext cx="2383357" cy="8763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3200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 spc="800">
                <a:solidFill>
                  <a:srgbClr val="0E3D52"/>
                </a:solidFill>
                <a:latin typeface="Calibri"/>
              </a:rPr>
              <a:t>MATRIZ EDUCAÇÃO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56692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6B7280"/>
                </a:solidFill>
                <a:latin typeface="Calibri"/>
              </a:rPr>
              <a:t>Diretores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868680"/>
            <a:ext cx="11338560" cy="9144"/>
          </a:xfrm>
          <a:prstGeom prst="rect">
            <a:avLst/>
          </a:prstGeom>
          <a:solidFill>
            <a:srgbClr val="DD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600">
                <a:solidFill>
                  <a:srgbClr val="5DD4B4"/>
                </a:solidFill>
                <a:latin typeface="Calibri"/>
              </a:rPr>
              <a:t>BLOCO 5 — CONSOLIDAÇÃO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A2D3D"/>
                </a:solidFill>
                <a:latin typeface="Georgia"/>
              </a:rPr>
              <a:t>O que definimos juntos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Matriz Educação  ·  Jeito Matriz de Gestão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640" y="2150000"/>
            <a:ext cx="9958400" cy="203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0A2D3D"/>
                </a:solidFill>
                <a:latin typeface="Calibri"/>
              </a:rPr>
              <a:t>Três movimentos: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640" y="2553500"/>
            <a:ext cx="9958400" cy="203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5DD4B4"/>
                </a:solidFill>
                <a:latin typeface="Calibri"/>
              </a:rPr>
              <a:t>✓  O que está claro — podemos considerar consenso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640" y="2957000"/>
            <a:ext cx="9958400" cy="203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0E3D52"/>
                </a:solidFill>
                <a:latin typeface="Calibri"/>
              </a:rPr>
              <a:t>?  O que está em conflito — precisa de decisão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640" y="3360500"/>
            <a:ext cx="9958400" cy="203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0A2D3D"/>
                </a:solidFill>
                <a:latin typeface="Calibri"/>
              </a:rPr>
              <a:t>→  O que ficou de fora — precisa entrar no modelo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97280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249" y="25633"/>
            <a:ext cx="2383357" cy="8763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3200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 spc="800">
                <a:solidFill>
                  <a:srgbClr val="0E3D52"/>
                </a:solidFill>
                <a:latin typeface="Calibri"/>
              </a:rPr>
              <a:t>MATRIZ EDUCAÇÃO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56692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6B7280"/>
                </a:solidFill>
                <a:latin typeface="Calibri"/>
              </a:rPr>
              <a:t>Diretores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868680"/>
            <a:ext cx="11338560" cy="9144"/>
          </a:xfrm>
          <a:prstGeom prst="rect">
            <a:avLst/>
          </a:prstGeom>
          <a:solidFill>
            <a:srgbClr val="DD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600">
                <a:solidFill>
                  <a:srgbClr val="5DD4B4"/>
                </a:solidFill>
                <a:latin typeface="Calibri"/>
              </a:rPr>
              <a:t>BLOCO 5 — CONSOLIDAÇÃO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Matriz Educação  ·  Jeito Matriz de Gestão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150000"/>
            <a:ext cx="10058400" cy="28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A2D3D"/>
                </a:solidFill>
                <a:latin typeface="Georgia"/>
              </a:rPr>
              <a:t>Ser diretor do Matriz é...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400000"/>
            <a:ext cx="10058400" cy="6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0" i="1">
                <a:solidFill>
                  <a:srgbClr val="6B7280"/>
                </a:solidFill>
                <a:latin typeface="Calibri"/>
              </a:rPr>
              <a:t>[preencher coletivamente durante a reunião]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97280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249" y="25633"/>
            <a:ext cx="2383357" cy="8763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3200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 spc="800">
                <a:solidFill>
                  <a:srgbClr val="0E3D52"/>
                </a:solidFill>
                <a:latin typeface="Calibri"/>
              </a:rPr>
              <a:t>MATRIZ EDUCAÇÃO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56692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6B7280"/>
                </a:solidFill>
                <a:latin typeface="Calibri"/>
              </a:rPr>
              <a:t>Diretores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868680"/>
            <a:ext cx="11338560" cy="9144"/>
          </a:xfrm>
          <a:prstGeom prst="rect">
            <a:avLst/>
          </a:prstGeom>
          <a:solidFill>
            <a:srgbClr val="DD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600">
                <a:solidFill>
                  <a:srgbClr val="5DD4B4"/>
                </a:solidFill>
                <a:latin typeface="Calibri"/>
              </a:rPr>
              <a:t>BLOCO 6 — FECHAMENTO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 dirty="0" err="1">
                <a:solidFill>
                  <a:srgbClr val="0A2D3D"/>
                </a:solidFill>
                <a:latin typeface="Georgia"/>
              </a:rPr>
              <a:t>Em</a:t>
            </a:r>
            <a:r>
              <a:rPr sz="2800" b="1" i="0" dirty="0">
                <a:solidFill>
                  <a:srgbClr val="0A2D3D"/>
                </a:solidFill>
                <a:latin typeface="Georgia"/>
              </a:rPr>
              <a:t> um </a:t>
            </a:r>
            <a:r>
              <a:rPr sz="2800" b="1" i="0" dirty="0" err="1">
                <a:solidFill>
                  <a:srgbClr val="0A2D3D"/>
                </a:solidFill>
                <a:latin typeface="Georgia"/>
              </a:rPr>
              <a:t>dia</a:t>
            </a:r>
            <a:r>
              <a:rPr sz="2800" b="1" i="0" dirty="0">
                <a:solidFill>
                  <a:srgbClr val="0A2D3D"/>
                </a:solidFill>
                <a:latin typeface="Georgia"/>
              </a:rPr>
              <a:t>, </a:t>
            </a:r>
            <a:r>
              <a:rPr sz="2800" b="1" i="0" dirty="0" err="1">
                <a:solidFill>
                  <a:srgbClr val="0A2D3D"/>
                </a:solidFill>
                <a:latin typeface="Georgia"/>
              </a:rPr>
              <a:t>vocês</a:t>
            </a:r>
            <a:r>
              <a:rPr sz="2800" b="1" i="0" dirty="0">
                <a:solidFill>
                  <a:srgbClr val="0A2D3D"/>
                </a:solidFill>
                <a:latin typeface="Georgia"/>
              </a:rPr>
              <a:t> </a:t>
            </a:r>
            <a:r>
              <a:rPr sz="2800" b="1" i="0" dirty="0" err="1">
                <a:solidFill>
                  <a:srgbClr val="0A2D3D"/>
                </a:solidFill>
                <a:latin typeface="Georgia"/>
              </a:rPr>
              <a:t>fizeram</a:t>
            </a:r>
            <a:r>
              <a:rPr sz="2800" b="1" i="0" dirty="0">
                <a:solidFill>
                  <a:srgbClr val="0A2D3D"/>
                </a:solidFill>
                <a:latin typeface="Georgia"/>
              </a:rPr>
              <a:t> o que </a:t>
            </a:r>
            <a:r>
              <a:rPr sz="2800" b="1" i="0" dirty="0" err="1">
                <a:solidFill>
                  <a:srgbClr val="0A2D3D"/>
                </a:solidFill>
                <a:latin typeface="Georgia"/>
              </a:rPr>
              <a:t>muitas</a:t>
            </a:r>
            <a:r>
              <a:rPr sz="2800" b="1" i="0" dirty="0">
                <a:solidFill>
                  <a:srgbClr val="0A2D3D"/>
                </a:solidFill>
                <a:latin typeface="Georgia"/>
              </a:rPr>
              <a:t> redes </a:t>
            </a:r>
            <a:r>
              <a:rPr sz="2800" b="1" i="0" dirty="0" err="1">
                <a:solidFill>
                  <a:srgbClr val="0A2D3D"/>
                </a:solidFill>
                <a:latin typeface="Georgia"/>
              </a:rPr>
              <a:t>nunca</a:t>
            </a:r>
            <a:r>
              <a:rPr sz="2800" b="1" i="0" dirty="0">
                <a:solidFill>
                  <a:srgbClr val="0A2D3D"/>
                </a:solidFill>
                <a:latin typeface="Georgia"/>
              </a:rPr>
              <a:t> </a:t>
            </a:r>
            <a:r>
              <a:rPr sz="2800" b="1" i="0" dirty="0" err="1">
                <a:solidFill>
                  <a:srgbClr val="0A2D3D"/>
                </a:solidFill>
                <a:latin typeface="Georgia"/>
              </a:rPr>
              <a:t>fazem</a:t>
            </a:r>
            <a:endParaRPr sz="2800" b="1" i="0" dirty="0">
              <a:solidFill>
                <a:srgbClr val="0A2D3D"/>
              </a:solidFill>
              <a:latin typeface="Georgia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Matriz Educação  ·  Jeito Matriz de Gestão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71855"/>
            <a:ext cx="400000" cy="400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8640" y="2956695"/>
            <a:ext cx="400000" cy="4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 i="0">
                <a:solidFill>
                  <a:srgbClr val="5DD4B4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8640" y="2986695"/>
            <a:ext cx="41800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Definição coletiva do papel do diretor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98640" y="2871855"/>
            <a:ext cx="400000" cy="400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98640" y="2956695"/>
            <a:ext cx="400000" cy="4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 i="0">
                <a:solidFill>
                  <a:srgbClr val="5DD4B4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68640" y="2986695"/>
            <a:ext cx="41800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Comportamentos inegociáveis de liderança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506695"/>
            <a:ext cx="400000" cy="400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40" y="3506695"/>
            <a:ext cx="400000" cy="4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 i="0">
                <a:solidFill>
                  <a:srgbClr val="5DD4B4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8640" y="3536695"/>
            <a:ext cx="41800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Mapa de decisão — quem decide o quê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98640" y="3506695"/>
            <a:ext cx="400000" cy="400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98640" y="3506695"/>
            <a:ext cx="400000" cy="4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 i="0">
                <a:solidFill>
                  <a:srgbClr val="5DD4B4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68640" y="3536695"/>
            <a:ext cx="41800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Indicadores obrigatórios por unidade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056695"/>
            <a:ext cx="400000" cy="400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4056695"/>
            <a:ext cx="400000" cy="4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 i="0">
                <a:solidFill>
                  <a:srgbClr val="5DD4B4"/>
                </a:solidFill>
                <a:latin typeface="Calibri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8640" y="4086695"/>
            <a:ext cx="41800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Pontos inegociáveis da operação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98640" y="4056695"/>
            <a:ext cx="400000" cy="400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498640" y="4056695"/>
            <a:ext cx="400000" cy="4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 i="0">
                <a:solidFill>
                  <a:srgbClr val="5DD4B4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8640" y="4086695"/>
            <a:ext cx="41800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Cadência mínima de reuniões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606695"/>
            <a:ext cx="400000" cy="400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48640" y="4606695"/>
            <a:ext cx="400000" cy="4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 i="0">
                <a:solidFill>
                  <a:srgbClr val="5DD4B4"/>
                </a:solidFill>
                <a:latin typeface="Calibr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8640" y="4636695"/>
            <a:ext cx="41800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Fluxo de comunicação interna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98640" y="4606695"/>
            <a:ext cx="400000" cy="400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498640" y="4606695"/>
            <a:ext cx="400000" cy="4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 i="0">
                <a:solidFill>
                  <a:srgbClr val="5DD4B4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68640" y="4636695"/>
            <a:ext cx="41800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Primeiros blocos do framework oficial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97280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249" y="25633"/>
            <a:ext cx="2383357" cy="8763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3200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 spc="800">
                <a:solidFill>
                  <a:srgbClr val="0E3D52"/>
                </a:solidFill>
                <a:latin typeface="Calibri"/>
              </a:rPr>
              <a:t>MATRIZ EDUCAÇÃO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56692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6B7280"/>
                </a:solidFill>
                <a:latin typeface="Calibri"/>
              </a:rPr>
              <a:t>Diretores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868680"/>
            <a:ext cx="11338560" cy="9144"/>
          </a:xfrm>
          <a:prstGeom prst="rect">
            <a:avLst/>
          </a:prstGeom>
          <a:solidFill>
            <a:srgbClr val="DD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600">
                <a:solidFill>
                  <a:srgbClr val="5DD4B4"/>
                </a:solidFill>
                <a:latin typeface="Calibri"/>
              </a:rPr>
              <a:t>BLOCO 6 — FECHAMENTO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A2D3D"/>
                </a:solidFill>
                <a:latin typeface="Georgia"/>
              </a:rPr>
              <a:t>O que acontece a partir de agora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Matriz Educação  ·  Jeito Matriz de Gestão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150000"/>
            <a:ext cx="10058400" cy="73152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2223152"/>
            <a:ext cx="10058400" cy="970000"/>
          </a:xfrm>
          <a:prstGeom prst="rect">
            <a:avLst/>
          </a:prstGeom>
          <a:solidFill>
            <a:srgbClr val="F4F7F8"/>
          </a:solidFill>
          <a:ln w="9525">
            <a:solidFill>
              <a:srgbClr val="DD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98640" y="2330000"/>
            <a:ext cx="2400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 spc="200">
                <a:solidFill>
                  <a:srgbClr val="5DD4B4"/>
                </a:solidFill>
                <a:latin typeface="Calibri"/>
              </a:rPr>
              <a:t>Em até 2 semanas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8640" y="2330000"/>
            <a:ext cx="7158400" cy="7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Compilação de tudo em documento estruturado — envio para revisão de cada diretor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310000"/>
            <a:ext cx="10058400" cy="73152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48640" y="3383152"/>
            <a:ext cx="10058400" cy="970000"/>
          </a:xfrm>
          <a:prstGeom prst="rect">
            <a:avLst/>
          </a:prstGeom>
          <a:solidFill>
            <a:srgbClr val="F4F7F8"/>
          </a:solidFill>
          <a:ln w="9525">
            <a:solidFill>
              <a:srgbClr val="DD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98640" y="3490000"/>
            <a:ext cx="2400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 spc="200">
                <a:solidFill>
                  <a:srgbClr val="0E3D52"/>
                </a:solidFill>
                <a:latin typeface="Calibri"/>
              </a:rPr>
              <a:t>Em até 30 dias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8640" y="3490000"/>
            <a:ext cx="7158400" cy="7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Reunião de validação — revisão coletiva e fechamento do modelo oficial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470000"/>
            <a:ext cx="10058400" cy="73152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48640" y="4543152"/>
            <a:ext cx="10058400" cy="970000"/>
          </a:xfrm>
          <a:prstGeom prst="rect">
            <a:avLst/>
          </a:prstGeom>
          <a:solidFill>
            <a:srgbClr val="F4F7F8"/>
          </a:solidFill>
          <a:ln w="9525">
            <a:solidFill>
              <a:srgbClr val="DDE3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98640" y="4650000"/>
            <a:ext cx="2400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 i="0" spc="200">
                <a:solidFill>
                  <a:srgbClr val="5DD4B4"/>
                </a:solidFill>
                <a:latin typeface="Calibri"/>
              </a:rPr>
              <a:t>Em até 60 dias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48640" y="4650000"/>
            <a:ext cx="7158400" cy="7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Jeito Matriz de Gestão vira manual de referência — entra em onboarding, avaliação e desenvolvimento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97280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249" y="25633"/>
            <a:ext cx="2383357" cy="8763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3200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 spc="800">
                <a:solidFill>
                  <a:srgbClr val="0E3D52"/>
                </a:solidFill>
                <a:latin typeface="Calibri"/>
              </a:rPr>
              <a:t>MATRIZ EDUCAÇÃO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56692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6B7280"/>
                </a:solidFill>
                <a:latin typeface="Calibri"/>
              </a:rPr>
              <a:t>Diretores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868680"/>
            <a:ext cx="11338560" cy="9144"/>
          </a:xfrm>
          <a:prstGeom prst="rect">
            <a:avLst/>
          </a:prstGeom>
          <a:solidFill>
            <a:srgbClr val="DD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600">
                <a:solidFill>
                  <a:srgbClr val="5DD4B4"/>
                </a:solidFill>
                <a:latin typeface="Calibri"/>
              </a:rPr>
              <a:t>BLOCO 6 — FECHAMENTO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A2D3D"/>
                </a:solidFill>
                <a:latin typeface="Georgia"/>
              </a:rPr>
              <a:t>O que significa gerir uma unidade do Matriz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Matriz Educação  ·  Jeito Matriz de Gestão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050000"/>
            <a:ext cx="100584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0A2D3D"/>
                </a:solidFill>
                <a:latin typeface="Georgia"/>
              </a:rPr>
              <a:t>No Matriz, gestão significa...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640" y="2530000"/>
            <a:ext cx="9958400" cy="31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6B7280"/>
                </a:solidFill>
                <a:latin typeface="Calibri"/>
              </a:rPr>
              <a:t>01.  ___________________________________________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640" y="2890000"/>
            <a:ext cx="9958400" cy="31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6B7280"/>
                </a:solidFill>
                <a:latin typeface="Calibri"/>
              </a:rPr>
              <a:t>02.  ___________________________________________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640" y="3250000"/>
            <a:ext cx="9958400" cy="31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6B7280"/>
                </a:solidFill>
                <a:latin typeface="Calibri"/>
              </a:rPr>
              <a:t>03.  ___________________________________________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640" y="3610000"/>
            <a:ext cx="9958400" cy="31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6B7280"/>
                </a:solidFill>
                <a:latin typeface="Calibri"/>
              </a:rPr>
              <a:t>04.  ___________________________________________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640" y="3970000"/>
            <a:ext cx="9958400" cy="31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6B7280"/>
                </a:solidFill>
                <a:latin typeface="Calibri"/>
              </a:rPr>
              <a:t>05.  ___________________________________________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640" y="4330000"/>
            <a:ext cx="9958400" cy="31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6B7280"/>
                </a:solidFill>
                <a:latin typeface="Calibri"/>
              </a:rPr>
              <a:t>06.  ___________________________________________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640" y="4690000"/>
            <a:ext cx="9958400" cy="31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6B7280"/>
                </a:solidFill>
                <a:latin typeface="Calibri"/>
              </a:rPr>
              <a:t>07.  ___________________________________________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640" y="5050000"/>
            <a:ext cx="9958400" cy="31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6B7280"/>
                </a:solidFill>
                <a:latin typeface="Calibri"/>
              </a:rPr>
              <a:t>08.  ___________________________________________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640" y="5410000"/>
            <a:ext cx="9958400" cy="31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6B7280"/>
                </a:solidFill>
                <a:latin typeface="Calibri"/>
              </a:rPr>
              <a:t>09.  ___________________________________________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640" y="5770000"/>
            <a:ext cx="9958400" cy="31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6B7280"/>
                </a:solidFill>
                <a:latin typeface="Calibri"/>
              </a:rPr>
              <a:t>10.  ___________________________________________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097280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249" y="25633"/>
            <a:ext cx="2383357" cy="8763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Matriz Educação  ·  Jeito Matriz de Gestão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950000"/>
            <a:ext cx="1800000" cy="9144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000000"/>
            <a:ext cx="10058400" cy="32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Georgia"/>
              </a:rPr>
              <a:t>"Hoje não terminamos um projeto. Hoje começamos a institucionalizar a cultura do Matriz."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2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097280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249" y="25633"/>
            <a:ext cx="2383357" cy="8763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Matriz Educação  ·  Jeito Matriz de Gestão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600000"/>
            <a:ext cx="2000000" cy="9144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400000"/>
            <a:ext cx="10058400" cy="3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600">
                <a:solidFill>
                  <a:srgbClr val="5DD4B4"/>
                </a:solidFill>
                <a:latin typeface="Calibri"/>
              </a:rPr>
              <a:t>REUNIÃO DE DIRETORES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60000"/>
            <a:ext cx="10058400" cy="7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Georgia"/>
              </a:rPr>
              <a:t>Jeito Matriz de Gestão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50000"/>
            <a:ext cx="10058400" cy="42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1">
                <a:solidFill>
                  <a:srgbClr val="B8EBDA"/>
                </a:solidFill>
                <a:latin typeface="Calibri"/>
              </a:rPr>
              <a:t>O Jeito Matriz começa aqui.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00000"/>
            <a:ext cx="100584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0" i="0">
                <a:solidFill>
                  <a:srgbClr val="B8EBDA"/>
                </a:solidFill>
                <a:latin typeface="Calibri"/>
              </a:rPr>
              <a:t>Obrigado pela entrega e pela construção coletiva.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97280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249" y="25633"/>
            <a:ext cx="2383357" cy="8763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3200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 spc="800">
                <a:solidFill>
                  <a:srgbClr val="0E3D52"/>
                </a:solidFill>
                <a:latin typeface="Calibri"/>
              </a:rPr>
              <a:t>MATRIZ EDUCAÇÃO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56692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6B7280"/>
                </a:solidFill>
                <a:latin typeface="Calibri"/>
              </a:rPr>
              <a:t>Diretores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868680"/>
            <a:ext cx="11338560" cy="9144"/>
          </a:xfrm>
          <a:prstGeom prst="rect">
            <a:avLst/>
          </a:prstGeom>
          <a:solidFill>
            <a:srgbClr val="DD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600">
                <a:solidFill>
                  <a:srgbClr val="5DD4B4"/>
                </a:solidFill>
                <a:latin typeface="Calibri"/>
              </a:rPr>
              <a:t>APÊNDICE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A2D3D"/>
                </a:solidFill>
                <a:latin typeface="Georgia"/>
              </a:rPr>
              <a:t>Mapa de maturidade por unidade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Matriz Educação  ·  Jeito Matriz de Gestão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640" y="2150000"/>
            <a:ext cx="9958400" cy="203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5DD4B4"/>
                </a:solidFill>
                <a:latin typeface="Calibri"/>
              </a:rPr>
              <a:t>Alta maturidade — modelos mais estruturados: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640" y="241182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•    Bangu (tripé Gestor/Líder/Mentor)  ·  Nova Iguaçu (processos mapeados)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640" y="3073500"/>
            <a:ext cx="9958400" cy="203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0E3D52"/>
                </a:solidFill>
                <a:latin typeface="Calibri"/>
              </a:rPr>
              <a:t>Maturidade intermediária: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640" y="3373805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 dirty="0">
                <a:solidFill>
                  <a:srgbClr val="1F2A37"/>
                </a:solidFill>
                <a:latin typeface="Calibri"/>
              </a:rPr>
              <a:t>•   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Taquara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  ·  Rocha Miranda  ·  Caxias  · 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Madureira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  ·  Campo Grande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640" y="3997000"/>
            <a:ext cx="9958400" cy="2035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6B7280"/>
                </a:solidFill>
                <a:latin typeface="Calibri"/>
              </a:rPr>
              <a:t>Em desenvolvimento: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640" y="4297598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 dirty="0">
                <a:solidFill>
                  <a:srgbClr val="1F2A37"/>
                </a:solidFill>
                <a:latin typeface="Calibri"/>
              </a:rPr>
              <a:t>•    Tijuca  · 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Retiro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 dos </a:t>
            </a:r>
            <a:r>
              <a:rPr sz="1500" b="0" i="0" dirty="0" err="1">
                <a:solidFill>
                  <a:srgbClr val="1F2A37"/>
                </a:solidFill>
                <a:latin typeface="Calibri"/>
              </a:rPr>
              <a:t>Artistas</a:t>
            </a:r>
            <a:r>
              <a:rPr sz="1500" b="0" i="0" dirty="0">
                <a:solidFill>
                  <a:srgbClr val="1F2A37"/>
                </a:solidFill>
                <a:latin typeface="Calibri"/>
              </a:rPr>
              <a:t>  ·  São João de Meriti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640" y="4920500"/>
            <a:ext cx="9958400" cy="200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6B7280"/>
                </a:solidFill>
                <a:latin typeface="Calibri"/>
              </a:rPr>
              <a:t>Nota: maturidade é ponto de partida — não julgamento.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3D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1097280"/>
          </a:xfrm>
          <a:prstGeom prst="rect">
            <a:avLst/>
          </a:prstGeom>
          <a:solidFill>
            <a:srgbClr val="5DD4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249" y="25633"/>
            <a:ext cx="2383357" cy="8763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686800" y="32004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1" i="0" spc="800">
                <a:solidFill>
                  <a:srgbClr val="0E3D52"/>
                </a:solidFill>
                <a:latin typeface="Calibri"/>
              </a:rPr>
              <a:t>MATRIZ EDUCAÇÃO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566928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900" b="0" i="1">
                <a:solidFill>
                  <a:srgbClr val="6B7280"/>
                </a:solidFill>
                <a:latin typeface="Calibri"/>
              </a:rPr>
              <a:t>Diretores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868680"/>
            <a:ext cx="11338560" cy="9144"/>
          </a:xfrm>
          <a:prstGeom prst="rect">
            <a:avLst/>
          </a:prstGeom>
          <a:solidFill>
            <a:srgbClr val="DDE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051560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spc="600">
                <a:solidFill>
                  <a:srgbClr val="5DD4B4"/>
                </a:solidFill>
                <a:latin typeface="Calibri"/>
              </a:rPr>
              <a:t>APÊNDICE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2588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0A2D3D"/>
                </a:solidFill>
                <a:latin typeface="Georgia"/>
              </a:rPr>
              <a:t>Práticas comuns identificadas nas 10 unidades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Matriz Educação  ·  Jeito Matriz de Gestão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640" y="215000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• Presença física e circulação pela escola — 7 unidades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640" y="267000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• Parceria ativa com coordenação pedagógica — 10 unidades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640" y="319000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• Reuniões de alinhamento de liderança — 8 unidades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640" y="371000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• Comunicação via grupos digitais internos — 4 unidades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640" y="423000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• Escuta ativa sistematizada — 5 unidades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640" y="475000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• Acompanhamento da saída de alunos — 3 unidades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640" y="527000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• Uso de dados para tomada de decisão — 3 unidades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640" y="5790000"/>
            <a:ext cx="9958400" cy="5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0">
                <a:solidFill>
                  <a:srgbClr val="1F2A37"/>
                </a:solidFill>
                <a:latin typeface="Calibri"/>
              </a:rPr>
              <a:t>• Feedbacks estruturados à equipe — 3 unidades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2092</Words>
  <Application>Microsoft Office PowerPoint</Application>
  <PresentationFormat>Widescreen</PresentationFormat>
  <Paragraphs>399</Paragraphs>
  <Slides>36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36</vt:i4>
      </vt:variant>
    </vt:vector>
  </HeadingPairs>
  <TitlesOfParts>
    <vt:vector size="40" baseType="lpstr">
      <vt:lpstr>Arial</vt:lpstr>
      <vt:lpstr>Calibri</vt:lpstr>
      <vt:lpstr>Georgia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subject/>
  <dc:creator/>
  <cp:keywords/>
  <dc:description>generated using python-pptx</dc:description>
  <cp:lastModifiedBy>Rafael Henrique dos Santos Xavier de Mendonça</cp:lastModifiedBy>
  <cp:revision>4</cp:revision>
  <dcterms:created xsi:type="dcterms:W3CDTF">2013-01-27T09:14:16Z</dcterms:created>
  <dcterms:modified xsi:type="dcterms:W3CDTF">2026-05-11T19:25:28Z</dcterms:modified>
  <cp:category/>
</cp:coreProperties>
</file>