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5"/>
  </p:notesMasterIdLst>
  <p:sldIdLst>
    <p:sldId id="259" r:id="rId10"/>
    <p:sldId id="256" r:id="rId2"/>
    <p:sldId id="257" r:id="rId3"/>
    <p:sldId id="258" r:id="rId4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85" d="100"/>
          <a:sy n="85" d="100"/>
        </p:scale>
        <p:origin x="562" y="8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6" Type="http://schemas.openxmlformats.org/officeDocument/2006/relationships/presProps" Target="presProps.xml"/><Relationship Id="rId7" Type="http://schemas.openxmlformats.org/officeDocument/2006/relationships/viewProps" Target="viewProps.xml"/><Relationship Id="rId8" Type="http://schemas.openxmlformats.org/officeDocument/2006/relationships/theme" Target="theme/theme1.xml"/><Relationship Id="rId9" Type="http://schemas.openxmlformats.org/officeDocument/2006/relationships/tableStyles" Target="tableStyles.xml"/><Relationship Id="rId10" Type="http://schemas.openxmlformats.org/officeDocument/2006/relationships/slide" Target="slides/slide4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pt-BR"/>
  <c:roundedCorners val="1"/>
  <c:style val="2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Casos</c:v>
                </c:pt>
              </c:strCache>
            </c:strRef>
          </c:tx>
          <c:spPr>
            <a:solidFill>
              <a:srgbClr val="0E3D52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900" b="1" i="0" u="none" strike="noStrike">
                    <a:solidFill>
                      <a:srgbClr val="0A2D3D"/>
                    </a:solidFill>
                    <a:latin typeface="Calibri"/>
                  </a:defRPr>
                </a:pPr>
                <a:endParaRPr lang="pt-BR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Sheet1!$A$2:$A$8</c:f>
              <c:strCache>
                <c:ptCount val="7"/>
                <c:pt idx="0">
                  <c:v>FGTS</c:v>
                </c:pt>
                <c:pt idx="1">
                  <c:v>Pagamento / CH</c:v>
                </c:pt>
                <c:pt idx="2">
                  <c:v>MEU RH</c:v>
                </c:pt>
                <c:pt idx="3">
                  <c:v>Vale Transporte</c:v>
                </c:pt>
                <c:pt idx="4">
                  <c:v>Dúvida salarial</c:v>
                </c:pt>
                <c:pt idx="5">
                  <c:v>Admissão</c:v>
                </c:pt>
                <c:pt idx="6">
                  <c:v>Outros</c:v>
                </c:pt>
              </c:strCache>
            </c: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15</c:v>
                </c:pt>
                <c:pt idx="1">
                  <c:v>12</c:v>
                </c:pt>
                <c:pt idx="2">
                  <c:v>11</c:v>
                </c:pt>
                <c:pt idx="3">
                  <c:v>10</c:v>
                </c:pt>
                <c:pt idx="4">
                  <c:v>7</c:v>
                </c:pt>
                <c:pt idx="5">
                  <c:v>6</c:v>
                </c:pt>
                <c:pt idx="6">
                  <c:v>11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E251-452F-9486-EE1A3BC5B8A7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1F2A37"/>
                </a:solidFill>
                <a:latin typeface="Calibri"/>
              </a:defRPr>
            </a:pPr>
            <a:endParaRPr lang="pt-BR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18"/>
        </c:scaling>
        <c:delete val="0"/>
        <c:axPos val="b"/>
        <c:majorGridlines>
          <c:spPr>
            <a:ln w="6350" cap="flat">
              <a:solidFill>
                <a:srgbClr val="DDE3E6"/>
              </a:solidFill>
              <a:prstDash val="dash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6B7280"/>
                </a:solidFill>
                <a:latin typeface="Calibri"/>
              </a:defRPr>
            </a:pPr>
            <a:endParaRPr lang="pt-BR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28639741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1. Concentramos os esforços do mês na importação do educacional do Raiz para o Totvs e concluímos essa etapa com sucesso. Isso não significa que a folha estará 100% correta de imediato — esse segue sendo o objetivo —, mas, a partir de agora, entramos em um novo estágio: o de aparar as arestas e refinar os processos.
2. Reforçamos a validação em conjunto com o DP da Raiz para identificar e corrigir os erros de processamento detectados ao longo da importação.
3. Paralelamente, dedicamos esforços ao atendimento dos canais de chamados, garantindo que as demandas dos professores fossem acolhidas e tratadas.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1. Apresentamos aqui o retrato atual dos dois canais de atendimento aos professores: o formulário e o WhatsApp. O formulário foi atualizado com as entradas de abril, mas as solicitações dos meses anteriores carecem de rastreabilidade. Já o WhatsApp está plenamente operante, com 100% das mensagens de abril atendidas.
2. A partir desse trabalho, estruturamos uma base com 72 casos mapeados, classificados por prioridade e responsável. Cada um está sendo tratado individualmente, com previsão de devolutiva no curto prazo.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Pedimos o apoio dos diretores na divulgação do canal de WhatsApp sempre que algum professor manifestar dúvidas ou reclamações sobre o atendimento. Esse é o caminho mais rápido para garantir que a demanda seja registrada, priorizada e resolvida pela nossa equipe.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Relationship Id="rId4" Type="http://schemas.openxmlformats.org/officeDocument/2006/relationships/image" Target="../media/image2.png"/><Relationship Id="rId5" Type="http://schemas.openxmlformats.org/officeDocument/2006/relationships/image" Target="../media/image3.png"/><Relationship Id="rId6" Type="http://schemas.openxmlformats.org/officeDocument/2006/relationships/image" Target="../media/image4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5.png"/><Relationship Id="rId4" Type="http://schemas.openxmlformats.org/officeDocument/2006/relationships/image" Target="../media/image6.png"/><Relationship Id="rId5" Type="http://schemas.openxmlformats.org/officeDocument/2006/relationships/chart" Target="../charts/chart1.xml"/><Relationship Id="rId6" Type="http://schemas.openxmlformats.org/officeDocument/2006/relationships/image" Target="../media/image4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7.png"/><Relationship Id="rId4" Type="http://schemas.openxmlformats.org/officeDocument/2006/relationships/image" Target="../media/image8.png"/><Relationship Id="rId5" Type="http://schemas.openxmlformats.org/officeDocument/2006/relationships/image" Target="../media/image9.png"/><Relationship Id="rId6" Type="http://schemas.openxmlformats.org/officeDocument/2006/relationships/image" Target="../media/image4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E3D52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64592" cy="1097280"/>
          </a:xfrm>
          <a:prstGeom prst="rect">
            <a:avLst/>
          </a:prstGeom>
          <a:solidFill>
            <a:srgbClr val="5DD4B4"/>
          </a:solidFill>
          <a:ln/>
        </p:spPr>
      </p:sp>
      <p:sp>
        <p:nvSpPr>
          <p:cNvPr id="4" name="Text 2"/>
          <p:cNvSpPr/>
          <p:nvPr/>
        </p:nvSpPr>
        <p:spPr>
          <a:xfrm>
            <a:off x="8686800" y="32004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kern="0" spc="800" dirty="0">
                <a:solidFill>
                  <a:srgbClr val="0E3D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MATRIZ EDUCAÇÃO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8686800" y="566928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i="1" dirty="0" err="1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Setor</a:t>
            </a:r>
            <a:r>
              <a:rPr lang="en-US" sz="9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548640" y="868680"/>
            <a:ext cx="11338560" cy="0"/>
          </a:xfrm>
          <a:prstGeom prst="line">
            <a:avLst/>
          </a:prstGeom>
          <a:noFill/>
          <a:ln w="12700">
            <a:solidFill>
              <a:srgbClr val="DDE3E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105156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600" dirty="0">
                <a:solidFill>
                  <a:srgbClr val="5DD4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BALANÇO DO MÊS DE ABRIL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548640" y="1325880"/>
            <a:ext cx="10058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A2D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Objetivo e Ações Realizadas</a:t>
            </a:r>
            <a:endParaRPr lang="en-US" sz="3000" dirty="0"/>
          </a:p>
        </p:txBody>
      </p:sp>
      <p:sp>
        <p:nvSpPr>
          <p:cNvPr id="9" name="Text 7"/>
          <p:cNvSpPr/>
          <p:nvPr/>
        </p:nvSpPr>
        <p:spPr>
          <a:xfrm>
            <a:off x="548640" y="65379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Matriz Educação  ·  Balanço de Abril/2026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548640" y="2148840"/>
            <a:ext cx="11064240" cy="914400"/>
          </a:xfrm>
          <a:prstGeom prst="rect">
            <a:avLst/>
          </a:prstGeom>
          <a:solidFill>
            <a:srgbClr val="0E3D52"/>
          </a:solidFill>
          <a:ln/>
        </p:spPr>
      </p:sp>
      <p:sp>
        <p:nvSpPr>
          <p:cNvPr id="11" name="Shape 9"/>
          <p:cNvSpPr/>
          <p:nvPr/>
        </p:nvSpPr>
        <p:spPr>
          <a:xfrm>
            <a:off x="548640" y="2148840"/>
            <a:ext cx="109728" cy="914400"/>
          </a:xfrm>
          <a:prstGeom prst="rect">
            <a:avLst/>
          </a:prstGeom>
          <a:solidFill>
            <a:srgbClr val="5DD4B4"/>
          </a:solidFill>
          <a:ln/>
        </p:spPr>
      </p:sp>
      <p:sp>
        <p:nvSpPr>
          <p:cNvPr id="12" name="Text 10"/>
          <p:cNvSpPr/>
          <p:nvPr/>
        </p:nvSpPr>
        <p:spPr>
          <a:xfrm>
            <a:off x="868680" y="228600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600" dirty="0">
                <a:solidFill>
                  <a:srgbClr val="5DD4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OBJETIVO PRINCIPAL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868680" y="2514600"/>
            <a:ext cx="10058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Folha do Educacional e Atendimento aos Professores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548640" y="333756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A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Ações executadas no mês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548640" y="3840480"/>
            <a:ext cx="5440680" cy="2286000"/>
          </a:xfrm>
          <a:prstGeom prst="rect">
            <a:avLst/>
          </a:prstGeom>
          <a:solidFill>
            <a:srgbClr val="F4F7F8"/>
          </a:solidFill>
          <a:ln w="12700">
            <a:solidFill>
              <a:srgbClr val="DDE3E6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77240" y="4114800"/>
            <a:ext cx="640080" cy="640080"/>
          </a:xfrm>
          <a:prstGeom prst="ellipse">
            <a:avLst/>
          </a:prstGeom>
          <a:solidFill>
            <a:srgbClr val="0E3D52"/>
          </a:solidFill>
          <a:ln/>
        </p:spPr>
      </p:sp>
      <p:sp>
        <p:nvSpPr>
          <p:cNvPr id="17" name="Text 15"/>
          <p:cNvSpPr/>
          <p:nvPr/>
        </p:nvSpPr>
        <p:spPr>
          <a:xfrm>
            <a:off x="777240" y="411480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5DD4B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1800" dirty="0"/>
          </a:p>
        </p:txBody>
      </p:sp>
      <p:pic>
        <p:nvPicPr>
          <p:cNvPr id="1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26280" y="4114800"/>
            <a:ext cx="640080" cy="640080"/>
          </a:xfrm>
          <a:prstGeom prst="rect">
            <a:avLst/>
          </a:prstGeom>
        </p:spPr>
      </p:pic>
      <p:sp>
        <p:nvSpPr>
          <p:cNvPr id="19" name="Text 16"/>
          <p:cNvSpPr/>
          <p:nvPr/>
        </p:nvSpPr>
        <p:spPr>
          <a:xfrm>
            <a:off x="777240" y="4800600"/>
            <a:ext cx="4983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A2D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Importação e validação da folha</a:t>
            </a:r>
            <a:endParaRPr lang="en-US" sz="1600" dirty="0"/>
          </a:p>
        </p:txBody>
      </p:sp>
      <p:sp>
        <p:nvSpPr>
          <p:cNvPr id="20" name="Text 17"/>
          <p:cNvSpPr/>
          <p:nvPr/>
        </p:nvSpPr>
        <p:spPr>
          <a:xfrm>
            <a:off x="777240" y="5166360"/>
            <a:ext cx="4983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Importação completa do educacional para o Totvs e validação criteriosa da folha educacional, em conjunto com o DP da Raiz.</a:t>
            </a:r>
            <a:endParaRPr lang="en-US" sz="1200" dirty="0"/>
          </a:p>
        </p:txBody>
      </p:sp>
      <p:sp>
        <p:nvSpPr>
          <p:cNvPr id="21" name="Shape 18"/>
          <p:cNvSpPr/>
          <p:nvPr/>
        </p:nvSpPr>
        <p:spPr>
          <a:xfrm>
            <a:off x="777240" y="5715000"/>
            <a:ext cx="1554480" cy="292608"/>
          </a:xfrm>
          <a:prstGeom prst="roundRect">
            <a:avLst>
              <a:gd name="adj" fmla="val 12500"/>
            </a:avLst>
          </a:prstGeom>
          <a:solidFill>
            <a:srgbClr val="16A34A"/>
          </a:solidFill>
          <a:ln/>
        </p:spPr>
      </p:sp>
      <p:pic>
        <p:nvPicPr>
          <p:cNvPr id="22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86968" y="5760720"/>
            <a:ext cx="201168" cy="201168"/>
          </a:xfrm>
          <a:prstGeom prst="rect">
            <a:avLst/>
          </a:prstGeom>
        </p:spPr>
      </p:pic>
      <p:sp>
        <p:nvSpPr>
          <p:cNvPr id="23" name="Text 19"/>
          <p:cNvSpPr/>
          <p:nvPr/>
        </p:nvSpPr>
        <p:spPr>
          <a:xfrm>
            <a:off x="1115568" y="5715000"/>
            <a:ext cx="1188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kern="0" spc="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REALIZADA</a:t>
            </a:r>
            <a:endParaRPr lang="en-US" sz="1000" dirty="0"/>
          </a:p>
        </p:txBody>
      </p:sp>
      <p:sp>
        <p:nvSpPr>
          <p:cNvPr id="24" name="Shape 20"/>
          <p:cNvSpPr/>
          <p:nvPr/>
        </p:nvSpPr>
        <p:spPr>
          <a:xfrm>
            <a:off x="6172200" y="3840480"/>
            <a:ext cx="5440680" cy="2286000"/>
          </a:xfrm>
          <a:prstGeom prst="rect">
            <a:avLst/>
          </a:prstGeom>
          <a:solidFill>
            <a:srgbClr val="F4F7F8"/>
          </a:solidFill>
          <a:ln w="12700">
            <a:solidFill>
              <a:srgbClr val="DDE3E6"/>
            </a:solidFill>
            <a:prstDash val="solid"/>
          </a:ln>
        </p:spPr>
      </p:sp>
      <p:sp>
        <p:nvSpPr>
          <p:cNvPr id="25" name="Shape 21"/>
          <p:cNvSpPr/>
          <p:nvPr/>
        </p:nvSpPr>
        <p:spPr>
          <a:xfrm>
            <a:off x="6400800" y="4114800"/>
            <a:ext cx="640080" cy="640080"/>
          </a:xfrm>
          <a:prstGeom prst="ellipse">
            <a:avLst/>
          </a:prstGeom>
          <a:solidFill>
            <a:srgbClr val="0E3D52"/>
          </a:solidFill>
          <a:ln/>
        </p:spPr>
      </p:sp>
      <p:sp>
        <p:nvSpPr>
          <p:cNvPr id="26" name="Text 22"/>
          <p:cNvSpPr/>
          <p:nvPr/>
        </p:nvSpPr>
        <p:spPr>
          <a:xfrm>
            <a:off x="6400800" y="411480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5DD4B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1800" dirty="0"/>
          </a:p>
        </p:txBody>
      </p:sp>
      <p:pic>
        <p:nvPicPr>
          <p:cNvPr id="27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149840" y="4114800"/>
            <a:ext cx="640080" cy="640080"/>
          </a:xfrm>
          <a:prstGeom prst="rect">
            <a:avLst/>
          </a:prstGeom>
        </p:spPr>
      </p:pic>
      <p:sp>
        <p:nvSpPr>
          <p:cNvPr id="28" name="Text 23"/>
          <p:cNvSpPr/>
          <p:nvPr/>
        </p:nvSpPr>
        <p:spPr>
          <a:xfrm>
            <a:off x="6400800" y="4800600"/>
            <a:ext cx="4983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A2D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Equipe reforçada para atendimento</a:t>
            </a:r>
            <a:endParaRPr lang="en-US" sz="1600" dirty="0"/>
          </a:p>
        </p:txBody>
      </p:sp>
      <p:sp>
        <p:nvSpPr>
          <p:cNvPr id="29" name="Text 24"/>
          <p:cNvSpPr/>
          <p:nvPr/>
        </p:nvSpPr>
        <p:spPr>
          <a:xfrm>
            <a:off x="6400800" y="5166360"/>
            <a:ext cx="4983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 ampliado para responder aos chamados abertos e prestar atendimento on-line em tempo real, garantindo cobertura total da demanda.</a:t>
            </a:r>
            <a:endParaRPr lang="en-US" sz="1200" dirty="0"/>
          </a:p>
        </p:txBody>
      </p:sp>
      <p:sp>
        <p:nvSpPr>
          <p:cNvPr id="30" name="Shape 25"/>
          <p:cNvSpPr/>
          <p:nvPr/>
        </p:nvSpPr>
        <p:spPr>
          <a:xfrm>
            <a:off x="6400800" y="5715000"/>
            <a:ext cx="1554480" cy="292608"/>
          </a:xfrm>
          <a:prstGeom prst="roundRect">
            <a:avLst>
              <a:gd name="adj" fmla="val 12500"/>
            </a:avLst>
          </a:prstGeom>
          <a:solidFill>
            <a:srgbClr val="16A34A"/>
          </a:solidFill>
          <a:ln/>
        </p:spPr>
      </p:sp>
      <p:pic>
        <p:nvPicPr>
          <p:cNvPr id="31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10528" y="5760720"/>
            <a:ext cx="201168" cy="201168"/>
          </a:xfrm>
          <a:prstGeom prst="rect">
            <a:avLst/>
          </a:prstGeom>
        </p:spPr>
      </p:pic>
      <p:sp>
        <p:nvSpPr>
          <p:cNvPr id="32" name="Text 26"/>
          <p:cNvSpPr/>
          <p:nvPr/>
        </p:nvSpPr>
        <p:spPr>
          <a:xfrm>
            <a:off x="6739128" y="5715000"/>
            <a:ext cx="1188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kern="0" spc="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REALIZADA</a:t>
            </a:r>
            <a:endParaRPr lang="en-US" sz="1000" dirty="0"/>
          </a:p>
        </p:txBody>
      </p:sp>
      <p:pic>
        <p:nvPicPr>
          <p:cNvPr id="34" name="Imagem 33">
            <a:extLst>
              <a:ext uri="{FF2B5EF4-FFF2-40B4-BE49-F238E27FC236}">
                <a16:creationId xmlns:a16="http://schemas.microsoft.com/office/drawing/2014/main" id="{DD0C15BF-E282-4D67-ACEB-22F735A64B6E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18249" y="25633"/>
            <a:ext cx="2383357" cy="876303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E3D52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64592" cy="1097280"/>
          </a:xfrm>
          <a:prstGeom prst="rect">
            <a:avLst/>
          </a:prstGeom>
          <a:solidFill>
            <a:srgbClr val="5DD4B4"/>
          </a:solidFill>
          <a:ln/>
        </p:spPr>
      </p:sp>
      <p:sp>
        <p:nvSpPr>
          <p:cNvPr id="4" name="Text 2"/>
          <p:cNvSpPr/>
          <p:nvPr/>
        </p:nvSpPr>
        <p:spPr>
          <a:xfrm>
            <a:off x="8686800" y="32004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kern="0" spc="800" dirty="0">
                <a:solidFill>
                  <a:srgbClr val="0E3D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MATRIZ EDUCAÇÃO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8686800" y="566928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Setor Administrativo e Financeiro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548640" y="868680"/>
            <a:ext cx="11338560" cy="0"/>
          </a:xfrm>
          <a:prstGeom prst="line">
            <a:avLst/>
          </a:prstGeom>
          <a:noFill/>
          <a:ln w="12700">
            <a:solidFill>
              <a:srgbClr val="DDE3E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105156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600" dirty="0">
                <a:solidFill>
                  <a:srgbClr val="5DD4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BALANÇO DO MÊS DE ABRIL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548640" y="1325880"/>
            <a:ext cx="10058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A2D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Atendimento aos Professores</a:t>
            </a:r>
            <a:endParaRPr lang="en-US" sz="3000" dirty="0"/>
          </a:p>
        </p:txBody>
      </p:sp>
      <p:sp>
        <p:nvSpPr>
          <p:cNvPr id="9" name="Text 7"/>
          <p:cNvSpPr/>
          <p:nvPr/>
        </p:nvSpPr>
        <p:spPr>
          <a:xfrm>
            <a:off x="548640" y="65379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Matriz Educação  ·  Balanço de Abril/2026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548640" y="2148840"/>
            <a:ext cx="5440680" cy="1783080"/>
          </a:xfrm>
          <a:prstGeom prst="rect">
            <a:avLst/>
          </a:prstGeom>
          <a:solidFill>
            <a:srgbClr val="F4F7F8"/>
          </a:solidFill>
          <a:ln w="12700">
            <a:solidFill>
              <a:srgbClr val="DDE3E6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48640" y="2148840"/>
            <a:ext cx="5440680" cy="73152"/>
          </a:xfrm>
          <a:prstGeom prst="rect">
            <a:avLst/>
          </a:prstGeom>
          <a:solidFill>
            <a:srgbClr val="0E3D52"/>
          </a:solidFill>
          <a:ln/>
        </p:spPr>
      </p:sp>
      <p:pic>
        <p:nvPicPr>
          <p:cNvPr id="1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2441448"/>
            <a:ext cx="457200" cy="457200"/>
          </a:xfrm>
          <a:prstGeom prst="rect">
            <a:avLst/>
          </a:prstGeom>
        </p:spPr>
      </p:pic>
      <p:sp>
        <p:nvSpPr>
          <p:cNvPr id="13" name="Text 10"/>
          <p:cNvSpPr/>
          <p:nvPr/>
        </p:nvSpPr>
        <p:spPr>
          <a:xfrm>
            <a:off x="1371600" y="2423160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A2D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Formulário</a:t>
            </a:r>
            <a:endParaRPr lang="en-US" sz="1800" dirty="0"/>
          </a:p>
        </p:txBody>
      </p:sp>
      <p:sp>
        <p:nvSpPr>
          <p:cNvPr id="14" name="Shape 11"/>
          <p:cNvSpPr/>
          <p:nvPr/>
        </p:nvSpPr>
        <p:spPr>
          <a:xfrm>
            <a:off x="4526280" y="2514600"/>
            <a:ext cx="1371600" cy="292608"/>
          </a:xfrm>
          <a:prstGeom prst="roundRect">
            <a:avLst>
              <a:gd name="adj" fmla="val 12500"/>
            </a:avLst>
          </a:prstGeom>
          <a:solidFill>
            <a:srgbClr val="D97706"/>
          </a:solidFill>
          <a:ln/>
        </p:spPr>
      </p:sp>
      <p:sp>
        <p:nvSpPr>
          <p:cNvPr id="15" name="Text 12"/>
          <p:cNvSpPr/>
          <p:nvPr/>
        </p:nvSpPr>
        <p:spPr>
          <a:xfrm>
            <a:off x="4526280" y="2514600"/>
            <a:ext cx="1371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kern="0" spc="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ATENÇÃO</a:t>
            </a:r>
            <a:endParaRPr lang="en-US" sz="1000" dirty="0"/>
          </a:p>
        </p:txBody>
      </p:sp>
      <p:sp>
        <p:nvSpPr>
          <p:cNvPr id="16" name="Text 13"/>
          <p:cNvSpPr/>
          <p:nvPr/>
        </p:nvSpPr>
        <p:spPr>
          <a:xfrm>
            <a:off x="777240" y="3017520"/>
            <a:ext cx="5074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Abril/2026: </a:t>
            </a:r>
            <a:r>
              <a:rPr lang="en-US" sz="12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todas as entradas foram respondidas.</a:t>
            </a:r>
            <a:endParaRPr lang="en-US" sz="1200" dirty="0"/>
          </a:p>
        </p:txBody>
      </p:sp>
      <p:sp>
        <p:nvSpPr>
          <p:cNvPr id="17" name="Text 14"/>
          <p:cNvSpPr/>
          <p:nvPr/>
        </p:nvSpPr>
        <p:spPr>
          <a:xfrm>
            <a:off x="777240" y="3383280"/>
            <a:ext cx="5074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Jan, fev e mar: </a:t>
            </a:r>
            <a:r>
              <a:rPr lang="en-US" sz="12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 controle anterior — não é possível garantir atendimento prévio.</a:t>
            </a:r>
            <a:endParaRPr lang="en-US" sz="1200" dirty="0"/>
          </a:p>
        </p:txBody>
      </p:sp>
      <p:sp>
        <p:nvSpPr>
          <p:cNvPr id="18" name="Shape 15"/>
          <p:cNvSpPr/>
          <p:nvPr/>
        </p:nvSpPr>
        <p:spPr>
          <a:xfrm>
            <a:off x="6172200" y="2148840"/>
            <a:ext cx="5440680" cy="1783080"/>
          </a:xfrm>
          <a:prstGeom prst="rect">
            <a:avLst/>
          </a:prstGeom>
          <a:solidFill>
            <a:srgbClr val="F4F7F8"/>
          </a:solidFill>
          <a:ln w="12700">
            <a:solidFill>
              <a:srgbClr val="DDE3E6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6172200" y="2148840"/>
            <a:ext cx="5440680" cy="73152"/>
          </a:xfrm>
          <a:prstGeom prst="rect">
            <a:avLst/>
          </a:prstGeom>
          <a:solidFill>
            <a:srgbClr val="5DD4B4"/>
          </a:solidFill>
          <a:ln/>
        </p:spPr>
      </p:sp>
      <p:sp>
        <p:nvSpPr>
          <p:cNvPr id="20" name="Shape 17"/>
          <p:cNvSpPr/>
          <p:nvPr/>
        </p:nvSpPr>
        <p:spPr>
          <a:xfrm>
            <a:off x="6400800" y="2441448"/>
            <a:ext cx="457200" cy="457200"/>
          </a:xfrm>
          <a:prstGeom prst="ellipse">
            <a:avLst/>
          </a:prstGeom>
          <a:solidFill>
            <a:srgbClr val="0E3D52"/>
          </a:solidFill>
          <a:ln/>
        </p:spPr>
      </p:sp>
      <p:pic>
        <p:nvPicPr>
          <p:cNvPr id="2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55664" y="2496312"/>
            <a:ext cx="347472" cy="347472"/>
          </a:xfrm>
          <a:prstGeom prst="rect">
            <a:avLst/>
          </a:prstGeom>
        </p:spPr>
      </p:pic>
      <p:sp>
        <p:nvSpPr>
          <p:cNvPr id="22" name="Text 18"/>
          <p:cNvSpPr/>
          <p:nvPr/>
        </p:nvSpPr>
        <p:spPr>
          <a:xfrm>
            <a:off x="6995160" y="2423160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A2D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WhatsApp</a:t>
            </a:r>
            <a:endParaRPr lang="en-US" sz="1800" dirty="0"/>
          </a:p>
        </p:txBody>
      </p:sp>
      <p:sp>
        <p:nvSpPr>
          <p:cNvPr id="23" name="Shape 19"/>
          <p:cNvSpPr/>
          <p:nvPr/>
        </p:nvSpPr>
        <p:spPr>
          <a:xfrm>
            <a:off x="10149840" y="2514600"/>
            <a:ext cx="1371600" cy="292608"/>
          </a:xfrm>
          <a:prstGeom prst="roundRect">
            <a:avLst>
              <a:gd name="adj" fmla="val 12500"/>
            </a:avLst>
          </a:prstGeom>
          <a:solidFill>
            <a:srgbClr val="16A34A"/>
          </a:solidFill>
          <a:ln/>
        </p:spPr>
      </p:sp>
      <p:sp>
        <p:nvSpPr>
          <p:cNvPr id="24" name="Text 20"/>
          <p:cNvSpPr/>
          <p:nvPr/>
        </p:nvSpPr>
        <p:spPr>
          <a:xfrm>
            <a:off x="10149840" y="2514600"/>
            <a:ext cx="1371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kern="0" spc="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ONLINE</a:t>
            </a:r>
            <a:endParaRPr lang="en-US" sz="1000" dirty="0"/>
          </a:p>
        </p:txBody>
      </p:sp>
      <p:sp>
        <p:nvSpPr>
          <p:cNvPr id="25" name="Text 21"/>
          <p:cNvSpPr/>
          <p:nvPr/>
        </p:nvSpPr>
        <p:spPr>
          <a:xfrm>
            <a:off x="6400800" y="3017520"/>
            <a:ext cx="5074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Abril/2026: </a:t>
            </a:r>
            <a:r>
              <a:rPr lang="en-US" sz="12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100% das mensagens atendidas.</a:t>
            </a:r>
            <a:endParaRPr lang="en-US" sz="1200" dirty="0"/>
          </a:p>
        </p:txBody>
      </p:sp>
      <p:sp>
        <p:nvSpPr>
          <p:cNvPr id="26" name="Text 22"/>
          <p:cNvSpPr/>
          <p:nvPr/>
        </p:nvSpPr>
        <p:spPr>
          <a:xfrm>
            <a:off x="6400800" y="3383280"/>
            <a:ext cx="5074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Canal ativo </a:t>
            </a:r>
            <a:r>
              <a:rPr lang="en-US" sz="12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 operando em tempo real, com responsável e prioridade por caso.</a:t>
            </a:r>
            <a:endParaRPr lang="en-US" sz="1200" dirty="0"/>
          </a:p>
        </p:txBody>
      </p:sp>
      <p:sp>
        <p:nvSpPr>
          <p:cNvPr id="27" name="Shape 23"/>
          <p:cNvSpPr/>
          <p:nvPr/>
        </p:nvSpPr>
        <p:spPr>
          <a:xfrm>
            <a:off x="548640" y="4114800"/>
            <a:ext cx="269748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E6"/>
            </a:solidFill>
            <a:prstDash val="solid"/>
          </a:ln>
        </p:spPr>
      </p:sp>
      <p:sp>
        <p:nvSpPr>
          <p:cNvPr id="28" name="Shape 24"/>
          <p:cNvSpPr/>
          <p:nvPr/>
        </p:nvSpPr>
        <p:spPr>
          <a:xfrm>
            <a:off x="548640" y="4114800"/>
            <a:ext cx="73152" cy="868680"/>
          </a:xfrm>
          <a:prstGeom prst="rect">
            <a:avLst/>
          </a:prstGeom>
          <a:solidFill>
            <a:srgbClr val="0E3D52"/>
          </a:solidFill>
          <a:ln/>
        </p:spPr>
      </p:sp>
      <p:sp>
        <p:nvSpPr>
          <p:cNvPr id="29" name="Text 25"/>
          <p:cNvSpPr/>
          <p:nvPr/>
        </p:nvSpPr>
        <p:spPr>
          <a:xfrm>
            <a:off x="777240" y="4160520"/>
            <a:ext cx="10058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E3D5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72</a:t>
            </a:r>
            <a:endParaRPr lang="en-US" sz="3000" dirty="0"/>
          </a:p>
        </p:txBody>
      </p:sp>
      <p:sp>
        <p:nvSpPr>
          <p:cNvPr id="30" name="Text 26"/>
          <p:cNvSpPr/>
          <p:nvPr/>
        </p:nvSpPr>
        <p:spPr>
          <a:xfrm>
            <a:off x="1783080" y="4160520"/>
            <a:ext cx="1371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CASOS NA BASE</a:t>
            </a:r>
            <a:endParaRPr lang="en-US" sz="900" dirty="0"/>
          </a:p>
        </p:txBody>
      </p:sp>
      <p:sp>
        <p:nvSpPr>
          <p:cNvPr id="31" name="Shape 27"/>
          <p:cNvSpPr/>
          <p:nvPr/>
        </p:nvSpPr>
        <p:spPr>
          <a:xfrm>
            <a:off x="3364992" y="4114800"/>
            <a:ext cx="269748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E6"/>
            </a:solidFill>
            <a:prstDash val="solid"/>
          </a:ln>
        </p:spPr>
      </p:sp>
      <p:sp>
        <p:nvSpPr>
          <p:cNvPr id="32" name="Shape 28"/>
          <p:cNvSpPr/>
          <p:nvPr/>
        </p:nvSpPr>
        <p:spPr>
          <a:xfrm>
            <a:off x="3364992" y="4114800"/>
            <a:ext cx="73152" cy="868680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33" name="Text 29"/>
          <p:cNvSpPr/>
          <p:nvPr/>
        </p:nvSpPr>
        <p:spPr>
          <a:xfrm>
            <a:off x="3593592" y="4160520"/>
            <a:ext cx="10058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D9770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45</a:t>
            </a:r>
            <a:endParaRPr lang="en-US" sz="3000" dirty="0"/>
          </a:p>
        </p:txBody>
      </p:sp>
      <p:sp>
        <p:nvSpPr>
          <p:cNvPr id="34" name="Text 30"/>
          <p:cNvSpPr/>
          <p:nvPr/>
        </p:nvSpPr>
        <p:spPr>
          <a:xfrm>
            <a:off x="4599432" y="4160520"/>
            <a:ext cx="1371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 ANDAMENTO</a:t>
            </a:r>
            <a:endParaRPr lang="en-US" sz="900" dirty="0"/>
          </a:p>
        </p:txBody>
      </p:sp>
      <p:sp>
        <p:nvSpPr>
          <p:cNvPr id="35" name="Shape 31"/>
          <p:cNvSpPr/>
          <p:nvPr/>
        </p:nvSpPr>
        <p:spPr>
          <a:xfrm>
            <a:off x="6181344" y="4114800"/>
            <a:ext cx="269748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E6"/>
            </a:solidFill>
            <a:prstDash val="solid"/>
          </a:ln>
        </p:spPr>
      </p:sp>
      <p:sp>
        <p:nvSpPr>
          <p:cNvPr id="36" name="Shape 32"/>
          <p:cNvSpPr/>
          <p:nvPr/>
        </p:nvSpPr>
        <p:spPr>
          <a:xfrm>
            <a:off x="6181344" y="4114800"/>
            <a:ext cx="73152" cy="868680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37" name="Text 33"/>
          <p:cNvSpPr/>
          <p:nvPr/>
        </p:nvSpPr>
        <p:spPr>
          <a:xfrm>
            <a:off x="6409944" y="4160520"/>
            <a:ext cx="10058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6A3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12</a:t>
            </a:r>
            <a:endParaRPr lang="en-US" sz="3000" dirty="0"/>
          </a:p>
        </p:txBody>
      </p:sp>
      <p:sp>
        <p:nvSpPr>
          <p:cNvPr id="38" name="Text 34"/>
          <p:cNvSpPr/>
          <p:nvPr/>
        </p:nvSpPr>
        <p:spPr>
          <a:xfrm>
            <a:off x="7415784" y="4160520"/>
            <a:ext cx="1371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RESOLVIDOS</a:t>
            </a:r>
            <a:endParaRPr lang="en-US" sz="900" dirty="0"/>
          </a:p>
        </p:txBody>
      </p:sp>
      <p:sp>
        <p:nvSpPr>
          <p:cNvPr id="39" name="Shape 35"/>
          <p:cNvSpPr/>
          <p:nvPr/>
        </p:nvSpPr>
        <p:spPr>
          <a:xfrm>
            <a:off x="8997696" y="4114800"/>
            <a:ext cx="269748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E6"/>
            </a:solidFill>
            <a:prstDash val="solid"/>
          </a:ln>
        </p:spPr>
      </p:sp>
      <p:sp>
        <p:nvSpPr>
          <p:cNvPr id="40" name="Shape 36"/>
          <p:cNvSpPr/>
          <p:nvPr/>
        </p:nvSpPr>
        <p:spPr>
          <a:xfrm>
            <a:off x="8997696" y="4114800"/>
            <a:ext cx="73152" cy="868680"/>
          </a:xfrm>
          <a:prstGeom prst="rect">
            <a:avLst/>
          </a:prstGeom>
          <a:solidFill>
            <a:srgbClr val="0E3D52"/>
          </a:solidFill>
          <a:ln/>
        </p:spPr>
      </p:sp>
      <p:sp>
        <p:nvSpPr>
          <p:cNvPr id="41" name="Text 37"/>
          <p:cNvSpPr/>
          <p:nvPr/>
        </p:nvSpPr>
        <p:spPr>
          <a:xfrm>
            <a:off x="9226296" y="4160520"/>
            <a:ext cx="10058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E3D5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18</a:t>
            </a:r>
            <a:endParaRPr lang="en-US" sz="3000" dirty="0"/>
          </a:p>
        </p:txBody>
      </p:sp>
      <p:sp>
        <p:nvSpPr>
          <p:cNvPr id="42" name="Text 38"/>
          <p:cNvSpPr/>
          <p:nvPr/>
        </p:nvSpPr>
        <p:spPr>
          <a:xfrm>
            <a:off x="10232136" y="4160520"/>
            <a:ext cx="1371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P0 — ALTA PRIORIDADE</a:t>
            </a:r>
            <a:endParaRPr lang="en-US" sz="900" dirty="0"/>
          </a:p>
        </p:txBody>
      </p:sp>
      <p:sp>
        <p:nvSpPr>
          <p:cNvPr id="43" name="Text 39"/>
          <p:cNvSpPr/>
          <p:nvPr/>
        </p:nvSpPr>
        <p:spPr>
          <a:xfrm>
            <a:off x="548640" y="5166360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0A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Distribuição dos casos por assunto</a:t>
            </a:r>
            <a:endParaRPr lang="en-US" sz="1100" dirty="0"/>
          </a:p>
        </p:txBody>
      </p:sp>
      <p:graphicFrame>
        <p:nvGraphicFramePr>
          <p:cNvPr id="44" name="Chart 0"/>
          <p:cNvGraphicFramePr/>
          <p:nvPr/>
        </p:nvGraphicFramePr>
        <p:xfrm>
          <a:off x="548640" y="5440680"/>
          <a:ext cx="6858000" cy="10972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sp>
        <p:nvSpPr>
          <p:cNvPr id="45" name="Text 40"/>
          <p:cNvSpPr/>
          <p:nvPr/>
        </p:nvSpPr>
        <p:spPr>
          <a:xfrm>
            <a:off x="7680960" y="516636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0A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Composição da base</a:t>
            </a:r>
            <a:endParaRPr lang="en-US" sz="1100" dirty="0"/>
          </a:p>
        </p:txBody>
      </p:sp>
      <p:sp>
        <p:nvSpPr>
          <p:cNvPr id="46" name="Shape 41"/>
          <p:cNvSpPr/>
          <p:nvPr/>
        </p:nvSpPr>
        <p:spPr>
          <a:xfrm>
            <a:off x="7680960" y="5458968"/>
            <a:ext cx="3931920" cy="365760"/>
          </a:xfrm>
          <a:prstGeom prst="rect">
            <a:avLst/>
          </a:prstGeom>
          <a:solidFill>
            <a:srgbClr val="F4F7F8"/>
          </a:solidFill>
          <a:ln w="9525">
            <a:solidFill>
              <a:srgbClr val="DDE3E6"/>
            </a:solidFill>
            <a:prstDash val="solid"/>
          </a:ln>
        </p:spPr>
      </p:sp>
      <p:sp>
        <p:nvSpPr>
          <p:cNvPr id="47" name="Shape 42"/>
          <p:cNvSpPr/>
          <p:nvPr/>
        </p:nvSpPr>
        <p:spPr>
          <a:xfrm>
            <a:off x="7680960" y="5458968"/>
            <a:ext cx="54864" cy="365760"/>
          </a:xfrm>
          <a:prstGeom prst="rect">
            <a:avLst/>
          </a:prstGeom>
          <a:solidFill>
            <a:srgbClr val="5DD4B4"/>
          </a:solidFill>
          <a:ln/>
        </p:spPr>
      </p:sp>
      <p:sp>
        <p:nvSpPr>
          <p:cNvPr id="48" name="Text 43"/>
          <p:cNvSpPr/>
          <p:nvPr/>
        </p:nvSpPr>
        <p:spPr>
          <a:xfrm>
            <a:off x="7845552" y="5458968"/>
            <a:ext cx="3703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kern="0" spc="300" dirty="0">
                <a:solidFill>
                  <a:srgbClr val="0E3D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FUNÇÃO  </a:t>
            </a:r>
            <a:r>
              <a:rPr lang="en-US" sz="10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61 Professores  ·  11 Monitores</a:t>
            </a:r>
            <a:endParaRPr lang="en-US" sz="850" dirty="0"/>
          </a:p>
        </p:txBody>
      </p:sp>
      <p:sp>
        <p:nvSpPr>
          <p:cNvPr id="49" name="Shape 44"/>
          <p:cNvSpPr/>
          <p:nvPr/>
        </p:nvSpPr>
        <p:spPr>
          <a:xfrm>
            <a:off x="7680960" y="5870448"/>
            <a:ext cx="3931920" cy="365760"/>
          </a:xfrm>
          <a:prstGeom prst="rect">
            <a:avLst/>
          </a:prstGeom>
          <a:solidFill>
            <a:srgbClr val="F4F7F8"/>
          </a:solidFill>
          <a:ln w="9525">
            <a:solidFill>
              <a:srgbClr val="DDE3E6"/>
            </a:solidFill>
            <a:prstDash val="solid"/>
          </a:ln>
        </p:spPr>
      </p:sp>
      <p:sp>
        <p:nvSpPr>
          <p:cNvPr id="50" name="Shape 45"/>
          <p:cNvSpPr/>
          <p:nvPr/>
        </p:nvSpPr>
        <p:spPr>
          <a:xfrm>
            <a:off x="7680960" y="5870448"/>
            <a:ext cx="54864" cy="365760"/>
          </a:xfrm>
          <a:prstGeom prst="rect">
            <a:avLst/>
          </a:prstGeom>
          <a:solidFill>
            <a:srgbClr val="5DD4B4"/>
          </a:solidFill>
          <a:ln/>
        </p:spPr>
      </p:sp>
      <p:sp>
        <p:nvSpPr>
          <p:cNvPr id="51" name="Text 46"/>
          <p:cNvSpPr/>
          <p:nvPr/>
        </p:nvSpPr>
        <p:spPr>
          <a:xfrm>
            <a:off x="7845552" y="5870448"/>
            <a:ext cx="3703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kern="0" spc="300" dirty="0">
                <a:solidFill>
                  <a:srgbClr val="0E3D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PRIORIDADE  </a:t>
            </a:r>
            <a:r>
              <a:rPr lang="en-US" sz="10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P0: 18  ·  P1: 9  ·  P2: 9  ·  P3: 29  ·  Folha maio: 7</a:t>
            </a:r>
            <a:endParaRPr lang="en-US" sz="850" dirty="0"/>
          </a:p>
        </p:txBody>
      </p:sp>
      <p:sp>
        <p:nvSpPr>
          <p:cNvPr id="52" name="Shape 47"/>
          <p:cNvSpPr/>
          <p:nvPr/>
        </p:nvSpPr>
        <p:spPr>
          <a:xfrm>
            <a:off x="7680960" y="6281928"/>
            <a:ext cx="3931920" cy="365760"/>
          </a:xfrm>
          <a:prstGeom prst="rect">
            <a:avLst/>
          </a:prstGeom>
          <a:solidFill>
            <a:srgbClr val="F4F7F8"/>
          </a:solidFill>
          <a:ln w="9525">
            <a:solidFill>
              <a:srgbClr val="DDE3E6"/>
            </a:solidFill>
            <a:prstDash val="solid"/>
          </a:ln>
        </p:spPr>
      </p:sp>
      <p:sp>
        <p:nvSpPr>
          <p:cNvPr id="53" name="Shape 48"/>
          <p:cNvSpPr/>
          <p:nvPr/>
        </p:nvSpPr>
        <p:spPr>
          <a:xfrm>
            <a:off x="7680960" y="6281928"/>
            <a:ext cx="54864" cy="365760"/>
          </a:xfrm>
          <a:prstGeom prst="rect">
            <a:avLst/>
          </a:prstGeom>
          <a:solidFill>
            <a:srgbClr val="5DD4B4"/>
          </a:solidFill>
          <a:ln/>
        </p:spPr>
      </p:sp>
      <p:sp>
        <p:nvSpPr>
          <p:cNvPr id="54" name="Text 49"/>
          <p:cNvSpPr/>
          <p:nvPr/>
        </p:nvSpPr>
        <p:spPr>
          <a:xfrm>
            <a:off x="7845552" y="6281928"/>
            <a:ext cx="3703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kern="0" spc="300" dirty="0">
                <a:solidFill>
                  <a:srgbClr val="0E3D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RESPONSÁVEL  </a:t>
            </a:r>
            <a:r>
              <a:rPr lang="en-US" sz="10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Gabi: 46  ·  Leandro: 25  ·  Renata: 1</a:t>
            </a:r>
            <a:endParaRPr lang="en-US" sz="850" dirty="0"/>
          </a:p>
        </p:txBody>
      </p:sp>
      <p:pic>
        <p:nvPicPr>
          <p:cNvPr id="55" name="Imagem 54">
            <a:extLst>
              <a:ext uri="{FF2B5EF4-FFF2-40B4-BE49-F238E27FC236}">
                <a16:creationId xmlns:a16="http://schemas.microsoft.com/office/drawing/2014/main" id="{54C0FF55-EC6A-4996-949E-ABFE0F72D1F2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18249" y="25633"/>
            <a:ext cx="2383357" cy="876303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E3D52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64592" cy="1097280"/>
          </a:xfrm>
          <a:prstGeom prst="rect">
            <a:avLst/>
          </a:prstGeom>
          <a:solidFill>
            <a:srgbClr val="5DD4B4"/>
          </a:solidFill>
          <a:ln/>
        </p:spPr>
      </p:sp>
      <p:sp>
        <p:nvSpPr>
          <p:cNvPr id="4" name="Text 2"/>
          <p:cNvSpPr/>
          <p:nvPr/>
        </p:nvSpPr>
        <p:spPr>
          <a:xfrm>
            <a:off x="8686800" y="32004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kern="0" spc="800" dirty="0">
                <a:solidFill>
                  <a:srgbClr val="0E3D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MATRIZ EDUCAÇÃO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8686800" y="566928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Setor Administrativo e Financeiro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548640" y="868680"/>
            <a:ext cx="11338560" cy="0"/>
          </a:xfrm>
          <a:prstGeom prst="line">
            <a:avLst/>
          </a:prstGeom>
          <a:noFill/>
          <a:ln w="12700">
            <a:solidFill>
              <a:srgbClr val="DDE3E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105156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600" dirty="0">
                <a:solidFill>
                  <a:srgbClr val="5DD4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BALANÇO DO MÊS DE ABRIL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548640" y="1325880"/>
            <a:ext cx="10058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A2D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Canal Direto com o Professor</a:t>
            </a:r>
            <a:endParaRPr lang="en-US" sz="3000" dirty="0"/>
          </a:p>
        </p:txBody>
      </p:sp>
      <p:sp>
        <p:nvSpPr>
          <p:cNvPr id="9" name="Text 7"/>
          <p:cNvSpPr/>
          <p:nvPr/>
        </p:nvSpPr>
        <p:spPr>
          <a:xfrm>
            <a:off x="548640" y="65379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Matriz Educação  ·  Balanço de Abril/2026</a:t>
            </a:r>
            <a:endParaRPr lang="en-US" sz="900" dirty="0"/>
          </a:p>
        </p:txBody>
      </p:sp>
      <p:pic>
        <p:nvPicPr>
          <p:cNvPr id="10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2194560"/>
            <a:ext cx="365760" cy="365760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1051560" y="2240280"/>
            <a:ext cx="6263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600" dirty="0">
                <a:solidFill>
                  <a:srgbClr val="5DD4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ATENDIMENTO IMEDIATO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548640" y="2697480"/>
            <a:ext cx="67665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A2D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Ainda tem dúvidas ou alguma reclamação sobre o atendimento?</a:t>
            </a:r>
            <a:endParaRPr lang="en-US" sz="2000" dirty="0"/>
          </a:p>
        </p:txBody>
      </p:sp>
      <p:sp>
        <p:nvSpPr>
          <p:cNvPr id="13" name="Text 10"/>
          <p:cNvSpPr/>
          <p:nvPr/>
        </p:nvSpPr>
        <p:spPr>
          <a:xfrm>
            <a:off x="548640" y="3657600"/>
            <a:ext cx="67665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sz="12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Estamos comprometidos em resolver todas as pendências da folha e do atendimento aos professores do Matriz. Caso algum professor ainda tenha dúvidas, demandas em aberto ou queira reportar uma reclamação sobre o atendimento prestado, pedimos que entre em contato diretamente pelo nosso WhatsApp oficial.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548640" y="4800600"/>
            <a:ext cx="6766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i="1" dirty="0">
                <a:solidFill>
                  <a:srgbClr val="0E3D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retorno é imediato — cada caso é registrado, classificado por prioridade e atribuído a um responsável.</a:t>
            </a:r>
            <a:endParaRPr lang="en-US" sz="1200" dirty="0"/>
          </a:p>
        </p:txBody>
      </p:sp>
      <p:pic>
        <p:nvPicPr>
          <p:cNvPr id="15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8640" y="5340096"/>
            <a:ext cx="182880" cy="182880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841248" y="5303520"/>
            <a:ext cx="6400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Mensagens respondidas em tempo real</a:t>
            </a:r>
            <a:endParaRPr lang="en-US" sz="1100" dirty="0"/>
          </a:p>
        </p:txBody>
      </p:sp>
      <p:pic>
        <p:nvPicPr>
          <p:cNvPr id="17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8640" y="5596128"/>
            <a:ext cx="182880" cy="182880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841248" y="5559552"/>
            <a:ext cx="6400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caso com responsável definido</a:t>
            </a:r>
            <a:endParaRPr lang="en-US" sz="1100" dirty="0"/>
          </a:p>
        </p:txBody>
      </p:sp>
      <p:pic>
        <p:nvPicPr>
          <p:cNvPr id="19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8640" y="5852160"/>
            <a:ext cx="182880" cy="182880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841248" y="5815584"/>
            <a:ext cx="6400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Acompanhamento até a resolução</a:t>
            </a:r>
            <a:endParaRPr lang="en-US" sz="1100" dirty="0"/>
          </a:p>
        </p:txBody>
      </p:sp>
      <p:sp>
        <p:nvSpPr>
          <p:cNvPr id="21" name="Shape 15"/>
          <p:cNvSpPr/>
          <p:nvPr/>
        </p:nvSpPr>
        <p:spPr>
          <a:xfrm>
            <a:off x="7772400" y="2103120"/>
            <a:ext cx="3840480" cy="4206240"/>
          </a:xfrm>
          <a:prstGeom prst="rect">
            <a:avLst/>
          </a:prstGeom>
          <a:solidFill>
            <a:srgbClr val="0A2D3D"/>
          </a:solidFill>
          <a:ln/>
        </p:spPr>
      </p:sp>
      <p:sp>
        <p:nvSpPr>
          <p:cNvPr id="22" name="Shape 16"/>
          <p:cNvSpPr/>
          <p:nvPr/>
        </p:nvSpPr>
        <p:spPr>
          <a:xfrm>
            <a:off x="7772400" y="2103120"/>
            <a:ext cx="3840480" cy="109728"/>
          </a:xfrm>
          <a:prstGeom prst="rect">
            <a:avLst/>
          </a:prstGeom>
          <a:solidFill>
            <a:srgbClr val="5DD4B4"/>
          </a:solidFill>
          <a:ln/>
        </p:spPr>
      </p:sp>
      <p:sp>
        <p:nvSpPr>
          <p:cNvPr id="23" name="Text 17"/>
          <p:cNvSpPr/>
          <p:nvPr/>
        </p:nvSpPr>
        <p:spPr>
          <a:xfrm>
            <a:off x="7955280" y="237744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kern="0" spc="500" dirty="0">
                <a:solidFill>
                  <a:srgbClr val="5DD4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WHATSAPP OFICIAL</a:t>
            </a:r>
            <a:endParaRPr lang="en-US" sz="1000" dirty="0"/>
          </a:p>
        </p:txBody>
      </p:sp>
      <p:sp>
        <p:nvSpPr>
          <p:cNvPr id="24" name="Text 18"/>
          <p:cNvSpPr/>
          <p:nvPr/>
        </p:nvSpPr>
        <p:spPr>
          <a:xfrm>
            <a:off x="7955280" y="260604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Matriz Educação</a:t>
            </a:r>
            <a:endParaRPr lang="en-US" sz="1800" dirty="0"/>
          </a:p>
        </p:txBody>
      </p:sp>
      <p:sp>
        <p:nvSpPr>
          <p:cNvPr id="25" name="Shape 19"/>
          <p:cNvSpPr/>
          <p:nvPr/>
        </p:nvSpPr>
        <p:spPr>
          <a:xfrm>
            <a:off x="8321040" y="3154680"/>
            <a:ext cx="2743200" cy="27432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26" name="Image 4" descr="/home/claude/assets/qr-only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485632" y="3319272"/>
            <a:ext cx="2414016" cy="2414016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7955280" y="603504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B8EB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Aponte a câmera do celular para escanear</a:t>
            </a:r>
            <a:endParaRPr lang="en-US" sz="1100" dirty="0"/>
          </a:p>
        </p:txBody>
      </p:sp>
      <p:pic>
        <p:nvPicPr>
          <p:cNvPr id="28" name="Imagem 27">
            <a:extLst>
              <a:ext uri="{FF2B5EF4-FFF2-40B4-BE49-F238E27FC236}">
                <a16:creationId xmlns:a16="http://schemas.microsoft.com/office/drawing/2014/main" id="{450056AD-9A23-485E-B476-98B38B64F0B6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18249" y="25633"/>
            <a:ext cx="2383357" cy="876303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E3D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592000" y="0"/>
            <a:ext cx="3600000" cy="6858000"/>
          </a:xfrm>
          <a:prstGeom prst="rect">
            <a:avLst/>
          </a:prstGeom>
          <a:solidFill>
            <a:srgbClr val="0728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592000" y="0"/>
            <a:ext cx="9144" cy="6858000"/>
          </a:xfrm>
          <a:prstGeom prst="rect">
            <a:avLst/>
          </a:prstGeom>
          <a:solidFill>
            <a:srgbClr val="5DD4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A2D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0"/>
            <a:ext cx="164592" cy="1097280"/>
          </a:xfrm>
          <a:prstGeom prst="rect">
            <a:avLst/>
          </a:prstGeom>
          <a:solidFill>
            <a:srgbClr val="5DD4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48640" y="3200000"/>
            <a:ext cx="8327408" cy="9144"/>
          </a:xfrm>
          <a:prstGeom prst="rect">
            <a:avLst/>
          </a:prstGeom>
          <a:solidFill>
            <a:srgbClr val="5DD4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5055" y="-116672"/>
            <a:ext cx="2864869" cy="1053344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548640" y="1600000"/>
            <a:ext cx="7800000" cy="2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5DD4B4"/>
                </a:solidFill>
                <a:latin typeface="Calibri"/>
              </a:rPr>
              <a:t>REUNIÃO DE DIRETORES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1860000"/>
            <a:ext cx="7800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FFFFFF"/>
                </a:solidFill>
                <a:latin typeface="Calibri"/>
              </a:rPr>
              <a:t>[Título / Data da Reunião]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2800000"/>
            <a:ext cx="7800000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B8EBDA"/>
                </a:solidFill>
                <a:latin typeface="Calibri"/>
              </a:rPr>
              <a:t>[Objetivo principal da reunião]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792000" y="1200000"/>
            <a:ext cx="3000000" cy="1200000"/>
          </a:xfrm>
          <a:prstGeom prst="rect">
            <a:avLst/>
          </a:prstGeom>
          <a:solidFill>
            <a:srgbClr val="103A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8792000" y="1200000"/>
            <a:ext cx="3000000" cy="73152"/>
          </a:xfrm>
          <a:prstGeom prst="rect">
            <a:avLst/>
          </a:prstGeom>
          <a:solidFill>
            <a:srgbClr val="5DD4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952000" y="1350000"/>
            <a:ext cx="2600000" cy="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5DD4B4"/>
                </a:solidFill>
                <a:latin typeface="Calibri"/>
              </a:rPr>
              <a:t>DATA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952000" y="1580000"/>
            <a:ext cx="2600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alibri"/>
              </a:rPr>
              <a:t>[dd/mm/aaaa]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792000" y="2580000"/>
            <a:ext cx="3000000" cy="1200000"/>
          </a:xfrm>
          <a:prstGeom prst="rect">
            <a:avLst/>
          </a:prstGeom>
          <a:solidFill>
            <a:srgbClr val="103A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792000" y="2580000"/>
            <a:ext cx="3000000" cy="73152"/>
          </a:xfrm>
          <a:prstGeom prst="rect">
            <a:avLst/>
          </a:prstGeom>
          <a:solidFill>
            <a:srgbClr val="5DD4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952000" y="2730000"/>
            <a:ext cx="2600000" cy="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5DD4B4"/>
                </a:solidFill>
                <a:latin typeface="Calibri"/>
              </a:rPr>
              <a:t>HORÁRIO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952000" y="2960000"/>
            <a:ext cx="2600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alibri"/>
              </a:rPr>
              <a:t>[início] – [fim]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792000" y="3960000"/>
            <a:ext cx="3000000" cy="1200000"/>
          </a:xfrm>
          <a:prstGeom prst="rect">
            <a:avLst/>
          </a:prstGeom>
          <a:solidFill>
            <a:srgbClr val="103A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792000" y="3960000"/>
            <a:ext cx="3000000" cy="73152"/>
          </a:xfrm>
          <a:prstGeom prst="rect">
            <a:avLst/>
          </a:prstGeom>
          <a:solidFill>
            <a:srgbClr val="5DD4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952000" y="4110000"/>
            <a:ext cx="2600000" cy="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5DD4B4"/>
                </a:solidFill>
                <a:latin typeface="Calibri"/>
              </a:rPr>
              <a:t>LOCAL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952000" y="4340000"/>
            <a:ext cx="2600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alibri"/>
              </a:rPr>
              <a:t>[local ou formato]</a:t>
            </a:r>
          </a:p>
        </p:txBody>
      </p:sp>
      <p:sp>
        <p:nvSpPr>
          <p:cNvPr id="24" name="Rectangle 23"/>
          <p:cNvSpPr/>
          <p:nvPr/>
        </p:nvSpPr>
        <p:spPr>
          <a:xfrm>
            <a:off x="8792000" y="5340000"/>
            <a:ext cx="3000000" cy="1200000"/>
          </a:xfrm>
          <a:prstGeom prst="rect">
            <a:avLst/>
          </a:prstGeom>
          <a:solidFill>
            <a:srgbClr val="103A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8792000" y="5340000"/>
            <a:ext cx="3000000" cy="73152"/>
          </a:xfrm>
          <a:prstGeom prst="rect">
            <a:avLst/>
          </a:prstGeom>
          <a:solidFill>
            <a:srgbClr val="5DD4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952000" y="5490000"/>
            <a:ext cx="2600000" cy="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5DD4B4"/>
                </a:solidFill>
                <a:latin typeface="Calibri"/>
              </a:rPr>
              <a:t>RESPONSÁVEL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952000" y="5720000"/>
            <a:ext cx="2600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alibri"/>
              </a:rPr>
              <a:t>[nome]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48640" y="653796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B7280"/>
                </a:solidFill>
                <a:latin typeface="Calibri"/>
              </a:rPr>
              <a:t>Matriz Educação  ·  Reunião de Diretores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620</Words>
  <Application>Microsoft Office PowerPoint</Application>
  <PresentationFormat>Widescreen</PresentationFormat>
  <Paragraphs>63</Paragraphs>
  <Slides>3</Slides>
  <Notes>3</Notes>
  <HiddenSlides>0</HiddenSlides>
  <MMClips>0</MMClips>
  <ScaleCrop>false</ScaleCrop>
  <HeadingPairs>
    <vt:vector size="6" baseType="variant">
      <vt:variant>
        <vt:lpstr>Fontes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3</vt:i4>
      </vt:variant>
    </vt:vector>
  </HeadingPairs>
  <TitlesOfParts>
    <vt:vector size="7" baseType="lpstr">
      <vt:lpstr>Arial</vt:lpstr>
      <vt:lpstr>Calibri</vt:lpstr>
      <vt:lpstr>Georgia</vt:lpstr>
      <vt:lpstr>Office Theme</vt:lpstr>
      <vt:lpstr>Apresentação do PowerPoint</vt:lpstr>
      <vt:lpstr>Apresentação do PowerPoint</vt:lpstr>
      <vt:lpstr>Apresentação do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Balanço de Abril — Matriz Educação</dc:title>
  <dc:subject>PptxGenJS Presentation</dc:subject>
  <dc:creator>Setor Administrativo e Financeiro</dc:creator>
  <cp:lastModifiedBy>Rafael Henrique dos Santos Xavier de Mendonça</cp:lastModifiedBy>
  <cp:revision>3</cp:revision>
  <dcterms:created xsi:type="dcterms:W3CDTF">2026-05-07T16:21:39Z</dcterms:created>
  <dcterms:modified xsi:type="dcterms:W3CDTF">2026-05-07T16:51:32Z</dcterms:modified>
</cp:coreProperties>
</file>